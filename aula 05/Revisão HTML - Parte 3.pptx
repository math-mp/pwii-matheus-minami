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7"/>
  </p:notesMasterIdLst>
  <p:sldIdLst>
    <p:sldId id="256" r:id="rId2"/>
    <p:sldId id="448" r:id="rId3"/>
    <p:sldId id="451" r:id="rId4"/>
    <p:sldId id="468" r:id="rId5"/>
    <p:sldId id="469" r:id="rId6"/>
    <p:sldId id="470" r:id="rId7"/>
    <p:sldId id="452" r:id="rId8"/>
    <p:sldId id="472" r:id="rId9"/>
    <p:sldId id="473" r:id="rId10"/>
    <p:sldId id="454" r:id="rId11"/>
    <p:sldId id="474" r:id="rId12"/>
    <p:sldId id="475" r:id="rId13"/>
    <p:sldId id="476" r:id="rId14"/>
    <p:sldId id="477" r:id="rId15"/>
    <p:sldId id="455" r:id="rId16"/>
    <p:sldId id="478" r:id="rId17"/>
    <p:sldId id="480" r:id="rId18"/>
    <p:sldId id="479" r:id="rId19"/>
    <p:sldId id="481" r:id="rId20"/>
    <p:sldId id="482" r:id="rId21"/>
    <p:sldId id="483" r:id="rId22"/>
    <p:sldId id="464" r:id="rId23"/>
    <p:sldId id="465" r:id="rId24"/>
    <p:sldId id="466" r:id="rId25"/>
    <p:sldId id="467" r:id="rId26"/>
  </p:sldIdLst>
  <p:sldSz cx="9144000" cy="5143500" type="screen16x9"/>
  <p:notesSz cx="6858000" cy="9144000"/>
  <p:embeddedFontLst>
    <p:embeddedFont>
      <p:font typeface="Arvo" panose="020B0604020202020204" charset="0"/>
      <p:regular r:id="rId28"/>
      <p:bold r:id="rId29"/>
      <p:italic r:id="rId30"/>
      <p:boldItalic r:id="rId31"/>
    </p:embeddedFont>
    <p:embeddedFont>
      <p:font typeface="Roboto Condensed" panose="020B0604020202020204" charset="0"/>
      <p:regular r:id="rId32"/>
      <p:bold r:id="rId33"/>
      <p:italic r:id="rId34"/>
      <p:boldItalic r:id="rId35"/>
    </p:embeddedFont>
    <p:embeddedFont>
      <p:font typeface="Roboto Condensed Light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F6B7A1-2E56-4054-836A-3658AD846B81}">
  <a:tblStyle styleId="{36F6B7A1-2E56-4054-836A-3658AD846B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838" autoAdjust="0"/>
  </p:normalViewPr>
  <p:slideViewPr>
    <p:cSldViewPr snapToGrid="0">
      <p:cViewPr varScale="1">
        <p:scale>
          <a:sx n="73" d="100"/>
          <a:sy n="73" d="100"/>
        </p:scale>
        <p:origin x="10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D68A7E72-D166-A531-F51B-7D12E5A99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43703644-AD9C-7E09-760E-3456D89DF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FBBD71E9-1B5E-A9C5-20A2-0CAFDB554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04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C21212D-3DCC-0D58-4B33-5E330493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961BBF3-9D22-4738-74B5-FC782976F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0617E8B1-853C-227D-FA28-47B849D13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87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C21212D-3DCC-0D58-4B33-5E330493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961BBF3-9D22-4738-74B5-FC782976F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0617E8B1-853C-227D-FA28-47B849D13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26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C21212D-3DCC-0D58-4B33-5E330493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961BBF3-9D22-4738-74B5-FC782976F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0617E8B1-853C-227D-FA28-47B849D13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66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0C21212D-3DCC-0D58-4B33-5E330493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961BBF3-9D22-4738-74B5-FC782976F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0617E8B1-853C-227D-FA28-47B849D13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706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CED72727-E7A3-13D0-67E0-3C6FFCDB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1FD7B65E-8035-7344-0492-1E5DC9748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BD98645A-F522-5195-5A53-DBA7DCCB3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970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CED72727-E7A3-13D0-67E0-3C6FFCDB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1FD7B65E-8035-7344-0492-1E5DC9748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BD98645A-F522-5195-5A53-DBA7DCCB3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9549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CED72727-E7A3-13D0-67E0-3C6FFCDB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1FD7B65E-8035-7344-0492-1E5DC9748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BD98645A-F522-5195-5A53-DBA7DCCB3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648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21C048C-502C-BA5E-4094-A83DED7A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C87A28A7-1B24-71AF-17F3-3AAF569BD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9C3912C-B313-6A97-304E-A2A2C6F33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1011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21C048C-502C-BA5E-4094-A83DED7A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C87A28A7-1B24-71AF-17F3-3AAF569BD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9C3912C-B313-6A97-304E-A2A2C6F33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902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21C048C-502C-BA5E-4094-A83DED7A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C87A28A7-1B24-71AF-17F3-3AAF569BD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9C3912C-B313-6A97-304E-A2A2C6F33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640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21C048C-502C-BA5E-4094-A83DED7A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C87A28A7-1B24-71AF-17F3-3AAF569BD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9C3912C-B313-6A97-304E-A2A2C6F33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795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321C048C-502C-BA5E-4094-A83DED7A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C87A28A7-1B24-71AF-17F3-3AAF569BD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9C3912C-B313-6A97-304E-A2A2C6F33D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136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8B84693-98FC-5AB8-A978-A7333D4A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0B49F2FC-62F6-C678-0100-F6BB72094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F8AE69F8-C2B6-94C9-78A2-9EEBFD4BF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358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8B84693-98FC-5AB8-A978-A7333D4A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0B49F2FC-62F6-C678-0100-F6BB72094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F8AE69F8-C2B6-94C9-78A2-9EEBFD4BF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48147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8B84693-98FC-5AB8-A978-A7333D4A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0B49F2FC-62F6-C678-0100-F6BB72094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F8AE69F8-C2B6-94C9-78A2-9EEBFD4BF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0241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Ref idx="1003">
        <a:schemeClr val="bg2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chemeClr val="tx1"/>
          </a:solidFill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  <a:solidFill>
            <a:srgbClr val="0070C0"/>
          </a:solidFill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  <a:grpFill/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292649" y="126425"/>
            <a:ext cx="779700" cy="2598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4" name="Google Shape;84;p6"/>
          <p:cNvGrpSpPr/>
          <p:nvPr/>
        </p:nvGrpSpPr>
        <p:grpSpPr>
          <a:xfrm rot="10800000" flipH="1">
            <a:off x="3" y="40"/>
            <a:ext cx="6756168" cy="1327315"/>
            <a:chOff x="-2168138" y="330075"/>
            <a:chExt cx="8650663" cy="169950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5" name="Google Shape;85;p6"/>
            <p:cNvSpPr/>
            <p:nvPr/>
          </p:nvSpPr>
          <p:spPr>
            <a:xfrm>
              <a:off x="-2168138" y="330081"/>
              <a:ext cx="6958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 rot="10800000" flipH="1">
            <a:off x="-4" y="381007"/>
            <a:ext cx="7072430" cy="771744"/>
            <a:chOff x="-9092084" y="330075"/>
            <a:chExt cx="15574609" cy="1699501"/>
          </a:xfrm>
          <a:solidFill>
            <a:schemeClr val="tx1"/>
          </a:solidFill>
        </p:grpSpPr>
        <p:sp>
          <p:nvSpPr>
            <p:cNvPr id="88" name="Google Shape;88;p6"/>
            <p:cNvSpPr/>
            <p:nvPr/>
          </p:nvSpPr>
          <p:spPr>
            <a:xfrm>
              <a:off x="-9092084" y="330076"/>
              <a:ext cx="1388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478302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17D50CC-A91B-CFD3-F605-236DCDA5DEB9}"/>
              </a:ext>
            </a:extLst>
          </p:cNvPr>
          <p:cNvGrpSpPr/>
          <p:nvPr userDrawn="1"/>
        </p:nvGrpSpPr>
        <p:grpSpPr>
          <a:xfrm>
            <a:off x="6946842" y="4472723"/>
            <a:ext cx="2202830" cy="670795"/>
            <a:chOff x="6946842" y="4472723"/>
            <a:chExt cx="2202830" cy="670795"/>
          </a:xfrm>
        </p:grpSpPr>
        <p:sp>
          <p:nvSpPr>
            <p:cNvPr id="3" name="Google Shape;32;p3">
              <a:extLst>
                <a:ext uri="{FF2B5EF4-FFF2-40B4-BE49-F238E27FC236}">
                  <a16:creationId xmlns:a16="http://schemas.microsoft.com/office/drawing/2014/main" id="{24956765-EDAA-A904-EAFD-D325A05DAFA7}"/>
                </a:ext>
              </a:extLst>
            </p:cNvPr>
            <p:cNvSpPr/>
            <p:nvPr/>
          </p:nvSpPr>
          <p:spPr>
            <a:xfrm rot="10800000">
              <a:off x="69468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" name="Google Shape;33;p3">
              <a:extLst>
                <a:ext uri="{FF2B5EF4-FFF2-40B4-BE49-F238E27FC236}">
                  <a16:creationId xmlns:a16="http://schemas.microsoft.com/office/drawing/2014/main" id="{FF24B6CC-613D-1026-BCB2-BDD3C7A22D1B}"/>
                </a:ext>
              </a:extLst>
            </p:cNvPr>
            <p:cNvGrpSpPr/>
            <p:nvPr/>
          </p:nvGrpSpPr>
          <p:grpSpPr>
            <a:xfrm flipH="1">
              <a:off x="7106450" y="4472723"/>
              <a:ext cx="2040837" cy="670795"/>
              <a:chOff x="1297954" y="330075"/>
              <a:chExt cx="5169293" cy="1699506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8" name="Google Shape;34;p3">
                <a:extLst>
                  <a:ext uri="{FF2B5EF4-FFF2-40B4-BE49-F238E27FC236}">
                    <a16:creationId xmlns:a16="http://schemas.microsoft.com/office/drawing/2014/main" id="{D75C139C-81C9-7248-AF62-4F08E91CB0BF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5;p3">
                <a:extLst>
                  <a:ext uri="{FF2B5EF4-FFF2-40B4-BE49-F238E27FC236}">
                    <a16:creationId xmlns:a16="http://schemas.microsoft.com/office/drawing/2014/main" id="{BC881A8F-1EA1-FF56-3474-52D512F990B2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36;p3">
              <a:extLst>
                <a:ext uri="{FF2B5EF4-FFF2-40B4-BE49-F238E27FC236}">
                  <a16:creationId xmlns:a16="http://schemas.microsoft.com/office/drawing/2014/main" id="{8418D6E8-D5DF-9475-D4C3-312F9290953C}"/>
                </a:ext>
              </a:extLst>
            </p:cNvPr>
            <p:cNvGrpSpPr/>
            <p:nvPr/>
          </p:nvGrpSpPr>
          <p:grpSpPr>
            <a:xfrm flipH="1">
              <a:off x="6949809" y="4646738"/>
              <a:ext cx="2199863" cy="304563"/>
              <a:chOff x="-5827153" y="330075"/>
              <a:chExt cx="12276019" cy="1699569"/>
            </a:xfrm>
            <a:solidFill>
              <a:schemeClr val="tx1"/>
            </a:solidFill>
          </p:grpSpPr>
          <p:sp>
            <p:nvSpPr>
              <p:cNvPr id="6" name="Google Shape;37;p3">
                <a:extLst>
                  <a:ext uri="{FF2B5EF4-FFF2-40B4-BE49-F238E27FC236}">
                    <a16:creationId xmlns:a16="http://schemas.microsoft.com/office/drawing/2014/main" id="{0E993E44-4E10-F9DD-512C-292C32374F23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8;p3">
                <a:extLst>
                  <a:ext uri="{FF2B5EF4-FFF2-40B4-BE49-F238E27FC236}">
                    <a16:creationId xmlns:a16="http://schemas.microsoft.com/office/drawing/2014/main" id="{600D3115-2B6E-E8B0-8071-F16D3C0B4AB3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41;p3">
            <a:extLst>
              <a:ext uri="{FF2B5EF4-FFF2-40B4-BE49-F238E27FC236}">
                <a16:creationId xmlns:a16="http://schemas.microsoft.com/office/drawing/2014/main" id="{5B9CB5DD-50AD-CF52-FE03-0169D59EE7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799" y="1090750"/>
            <a:ext cx="6913180" cy="29619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PWEB II</a:t>
            </a:r>
            <a:b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4B1916E-6EF0-5BA0-877E-1490277FB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14CA55EB-C920-7267-C2A6-3C5267202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516210B8-C951-B997-DA33-0B56932CF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3" y="1389585"/>
            <a:ext cx="8589060" cy="336134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Atributos da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e &lt;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basefont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(elementos de apresentação estilo/visual)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as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Alterava a cor, o tamanho e a família (tipo) da fonte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um trecho específico de texto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Equivale a 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ou &lt;p&gt;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basefont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Definia um estilo de fonte padrão (tamanho, cor e família)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o documento HTML inteiro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Aplicamos as propriedades no &lt;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&lt;Color&gt;: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mudava a cor do texto. No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usamos: COLOR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&lt;Face&gt;: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definia o tipo/família da fonte,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arial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times,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verdana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usamos: FONT-FAMILY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alternava o tamanho da fonte. No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usamos: FONT-SIZE</a:t>
            </a: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776E2464-9DF5-CE21-F04B-D4110C7313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E446D398-1DE4-6B31-DC34-72EBCA13D196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DA15B493-F6F6-6166-E5DD-C1E94A1500EA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88F66E15-7E40-DB04-E313-EFB8A04B00CA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245AD78-BE94-AD3B-07FB-45624F0EFA24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BE509E31-61EF-B16E-0C8D-2B6A55DD2F82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9B6B772-FD00-347E-A62B-A787DEE5F4FE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31514E41-F2FE-9998-D6E6-19339B635874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A6735E89-C14B-21FA-97A5-B7C09E383D75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D00CC18E-BC34-DCBF-245B-831318A535BC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4D2DB05E-5CCE-74E1-778F-28165F92770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F45A8F35-5B52-EBE3-9DA1-B7C59975ED2A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E710B75-E200-0376-4866-42BC11CF12AE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C36B66AE-383E-07BB-2299-692123381C86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7DEDF705-1631-581F-F6B5-4BE8A95D6DAD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CECBDB4D-B2FE-7ECF-8524-EECA6836F2C1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2564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6265741-2641-C7FB-0588-7BFD3300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F042FED0-6863-C4E2-784C-486436A81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044EDDA3-4794-8F00-81A4-6A5DB4B1C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172600"/>
            <a:ext cx="8308711" cy="367372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Atributos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marginheight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marginwidth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viraram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propriedades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CSS margin e padding.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ANTES: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definíamos um espaço em branco entre o conteúdo e as bordas da janela ou quadro. Usávamos dentro do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(página inteira) ou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(janelas embutidas).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Marginwidth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horizontal (esquerda e direita)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Marginheight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vertical (topo e base)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marginwidth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="0"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marginheight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="0"&gt;</a:t>
            </a: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C3D9D5FA-3D5C-EBA7-D410-4C3ED66D07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7C8788AC-C701-ADF8-A99F-E56A15DFBF65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BE94108-30CE-9BD9-04A5-513316FAA2E3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55ADD6E9-AFA8-DAA6-AF47-1E21EDA4242D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2BFAEC0B-C53C-9013-40F3-0CF98F1CA8A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76CE4E0B-41FE-C45C-9DAC-6966C0A6164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C8D37EAD-E3D4-29FB-0E9D-A2DEFFB259E8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8A1EF485-8214-CAC7-F381-40B498E2739B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FF390BC2-FB7B-FA57-C32B-7739EC6B1700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71B2F17B-1D34-8E29-2504-7DB92104F674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C076876-8E1C-60C4-941E-8412B9776A4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30C99A89-377D-7925-6255-1C3E8870A8F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7A7A03C-4700-9F2B-7EC7-0571765E69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D6CCFEC6-CC3F-6846-7D05-6418A751393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BE604B13-74F4-F40B-EA26-E3F7B659EA26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0143998-0DB8-93BF-B6F3-440CB6BFAA7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432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6265741-2641-C7FB-0588-7BFD3300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F042FED0-6863-C4E2-784C-486436A81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044EDDA3-4794-8F00-81A4-6A5DB4B1C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3" y="1238541"/>
            <a:ext cx="8308711" cy="367372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ATUALMENTE:</a:t>
            </a:r>
            <a:endParaRPr lang="pt-BR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margem externa (cria espaço do lado de fora do elemento. Empurra os elementos vizinhos para longe).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preenchimento interno (cria espaço do lado de dentro do elemento. Afasta o conteúdo/texto das bordas do próprio elemento).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C3D9D5FA-3D5C-EBA7-D410-4C3ED66D07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7C8788AC-C701-ADF8-A99F-E56A15DFBF65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BE94108-30CE-9BD9-04A5-513316FAA2E3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55ADD6E9-AFA8-DAA6-AF47-1E21EDA4242D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2BFAEC0B-C53C-9013-40F3-0CF98F1CA8A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76CE4E0B-41FE-C45C-9DAC-6966C0A6164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C8D37EAD-E3D4-29FB-0E9D-A2DEFFB259E8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8A1EF485-8214-CAC7-F381-40B498E2739B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FF390BC2-FB7B-FA57-C32B-7739EC6B1700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71B2F17B-1D34-8E29-2504-7DB92104F674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C076876-8E1C-60C4-941E-8412B9776A4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30C99A89-377D-7925-6255-1C3E8870A8F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7A7A03C-4700-9F2B-7EC7-0571765E69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D6CCFEC6-CC3F-6846-7D05-6418A751393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BE604B13-74F4-F40B-EA26-E3F7B659EA26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0143998-0DB8-93BF-B6F3-440CB6BFAA7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3086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6265741-2641-C7FB-0588-7BFD3300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F042FED0-6863-C4E2-784C-486436A81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OPÇÕES DE COMO UTILIZAR O MARGIN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044EDDA3-4794-8F00-81A4-6A5DB4B1C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3" y="1238541"/>
            <a:ext cx="8308711" cy="367372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 TRABALHOSA (MAS CADA UM SE ADAPTA AO QUE PREFERE):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.minha-caixa {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-top: 20px; /* Espaço em cima */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margin-right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15px; /* Espaço na direita */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margin-bottom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30px; /* Espaço embaixo */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margin-left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10px; /* Espaço na esquerda */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C3D9D5FA-3D5C-EBA7-D410-4C3ED66D07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7C8788AC-C701-ADF8-A99F-E56A15DFBF65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BE94108-30CE-9BD9-04A5-513316FAA2E3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55ADD6E9-AFA8-DAA6-AF47-1E21EDA4242D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2BFAEC0B-C53C-9013-40F3-0CF98F1CA8A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76CE4E0B-41FE-C45C-9DAC-6966C0A6164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C8D37EAD-E3D4-29FB-0E9D-A2DEFFB259E8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8A1EF485-8214-CAC7-F381-40B498E2739B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FF390BC2-FB7B-FA57-C32B-7739EC6B1700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71B2F17B-1D34-8E29-2504-7DB92104F674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C076876-8E1C-60C4-941E-8412B9776A4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30C99A89-377D-7925-6255-1C3E8870A8F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7A7A03C-4700-9F2B-7EC7-0571765E69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D6CCFEC6-CC3F-6846-7D05-6418A751393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BE604B13-74F4-F40B-EA26-E3F7B659EA26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0143998-0DB8-93BF-B6F3-440CB6BFAA7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5133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6265741-2641-C7FB-0588-7BFD3300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F042FED0-6863-C4E2-784C-486436A814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OPÇÕES DE COMO UTILIZAR O MARGIN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044EDDA3-4794-8F00-81A4-6A5DB4B1C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3" y="1238541"/>
            <a:ext cx="8308711" cy="367372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 SIMPLES: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.minha-caixa 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/* top |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20px 15px 30px 10px;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= topo        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base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direita   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esquerda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C3D9D5FA-3D5C-EBA7-D410-4C3ED66D07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7C8788AC-C701-ADF8-A99F-E56A15DFBF65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BE94108-30CE-9BD9-04A5-513316FAA2E3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55ADD6E9-AFA8-DAA6-AF47-1E21EDA4242D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2BFAEC0B-C53C-9013-40F3-0CF98F1CA8A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76CE4E0B-41FE-C45C-9DAC-6966C0A6164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C8D37EAD-E3D4-29FB-0E9D-A2DEFFB259E8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8A1EF485-8214-CAC7-F381-40B498E2739B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FF390BC2-FB7B-FA57-C32B-7739EC6B1700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71B2F17B-1D34-8E29-2504-7DB92104F674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C076876-8E1C-60C4-941E-8412B9776A4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30C99A89-377D-7925-6255-1C3E8870A8F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7A7A03C-4700-9F2B-7EC7-0571765E69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D6CCFEC6-CC3F-6846-7D05-6418A751393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BE604B13-74F4-F40B-EA26-E3F7B659EA26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0143998-0DB8-93BF-B6F3-440CB6BFAA7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2735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ABECC55E-BE7A-60DE-6D7A-916A9811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5243C5E9-326C-7AA5-8452-F2575501D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D99FC72E-F538-2271-BA5E-01F3122F0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200268"/>
            <a:ext cx="8308711" cy="3868122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cria linha divisória na página 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(criava um efeito sombreado por padrão). O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noshade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removia esse efeito deixando a linha com uma cor sólida, sem ser 3D.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ANTES: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noshade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class="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linha-solida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56E231BF-B23C-2DCC-0DE1-20B16E11F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A6E5B962-56DC-81BE-0B1E-997BF4624DB3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A61B4A7-8D52-861B-F877-A0E7094199E2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E52D5CF-6F07-F674-0CAA-3EBED1871F98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51BE4FAF-BD78-4202-4A3E-FF774F728882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8F18DEDE-7F05-23FD-426D-AB8BA017FEAD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9D1C96C5-7713-8E83-F687-D96B4A07E9DB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4BE1C1E-4041-A5DB-978A-CF80B61CE3F0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C33EDA8B-85D9-565C-03DE-B52DFBB9607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AA4139CD-41C5-BD90-AFF3-E7E895D9EB1A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0B0943F-4422-41BE-83D6-91CB97074A72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8414A2D3-7159-39DF-F6B5-25249B4BEB5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F949733B-0B4D-7678-8C59-02FBCBEA4195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E741036C-7C16-F411-1E28-3DC734376AEB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514D61F2-EF59-2711-BFC4-9F1821509A8E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9D53A21-7E09-FD4D-3CDC-2171860A5300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DF73186E-E940-4CD4-ACF4-158E0B9FACA3}"/>
              </a:ext>
            </a:extLst>
          </p:cNvPr>
          <p:cNvSpPr txBox="1"/>
          <p:nvPr/>
        </p:nvSpPr>
        <p:spPr>
          <a:xfrm>
            <a:off x="3110431" y="2841716"/>
            <a:ext cx="5251269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linha-solida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border: none; /* Remove o visual 3D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padrão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navegador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border-top: 1px solid black; /*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sólida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*/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364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ABECC55E-BE7A-60DE-6D7A-916A9811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5243C5E9-326C-7AA5-8452-F2575501D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D99FC72E-F538-2271-BA5E-01F3122F0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8308711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compact (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usado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listas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espremê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-las)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virou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propriedade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line-height </a:t>
            </a:r>
            <a:r>
              <a:rPr lang="en-US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margin no CSS.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ANTES: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&lt;ul compact&gt;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&lt;li&gt;Item 1&lt;/li&gt;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&lt;li&gt;Item 2&lt;/li&gt;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&lt;/ul&gt;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56E231BF-B23C-2DCC-0DE1-20B16E11F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A6E5B962-56DC-81BE-0B1E-997BF4624DB3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A61B4A7-8D52-861B-F877-A0E7094199E2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E52D5CF-6F07-F674-0CAA-3EBED1871F98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51BE4FAF-BD78-4202-4A3E-FF774F728882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8F18DEDE-7F05-23FD-426D-AB8BA017FEAD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9D1C96C5-7713-8E83-F687-D96B4A07E9DB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4BE1C1E-4041-A5DB-978A-CF80B61CE3F0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C33EDA8B-85D9-565C-03DE-B52DFBB9607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AA4139CD-41C5-BD90-AFF3-E7E895D9EB1A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0B0943F-4422-41BE-83D6-91CB97074A72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8414A2D3-7159-39DF-F6B5-25249B4BEB5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F949733B-0B4D-7678-8C59-02FBCBEA4195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E741036C-7C16-F411-1E28-3DC734376AEB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514D61F2-EF59-2711-BFC4-9F1821509A8E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9D53A21-7E09-FD4D-3CDC-2171860A5300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2599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ABECC55E-BE7A-60DE-6D7A-916A9811E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5243C5E9-326C-7AA5-8452-F2575501D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D99FC72E-F538-2271-BA5E-01F3122F0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2771735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ATUALMENTE: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pt-BR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HTML: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&lt;ul class="lista-espremida"&gt;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&lt;li&gt;Item 1&lt;/li&gt;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&lt;li&gt;Item 2&lt;/li&gt;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&lt;/ul&gt;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56E231BF-B23C-2DCC-0DE1-20B16E11FA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A6E5B962-56DC-81BE-0B1E-997BF4624DB3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1A61B4A7-8D52-861B-F877-A0E7094199E2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E52D5CF-6F07-F674-0CAA-3EBED1871F98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51BE4FAF-BD78-4202-4A3E-FF774F728882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8F18DEDE-7F05-23FD-426D-AB8BA017FEAD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9D1C96C5-7713-8E83-F687-D96B4A07E9DB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4BE1C1E-4041-A5DB-978A-CF80B61CE3F0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C33EDA8B-85D9-565C-03DE-B52DFBB9607F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AA4139CD-41C5-BD90-AFF3-E7E895D9EB1A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0B0943F-4422-41BE-83D6-91CB97074A72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8414A2D3-7159-39DF-F6B5-25249B4BEB55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F949733B-0B4D-7678-8C59-02FBCBEA4195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E741036C-7C16-F411-1E28-3DC734376AEB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514D61F2-EF59-2711-BFC4-9F1821509A8E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59D53A21-7E09-FD4D-3CDC-2171860A5300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BC6D56B1-69D1-4989-936E-07B49B8905A0}"/>
              </a:ext>
            </a:extLst>
          </p:cNvPr>
          <p:cNvSpPr txBox="1"/>
          <p:nvPr/>
        </p:nvSpPr>
        <p:spPr>
          <a:xfrm>
            <a:off x="3106795" y="1389584"/>
            <a:ext cx="5931760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CSS: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.lista-espremida {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/* Opção 1: Reduz o espaço das linhas da lista inteira */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line-height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1.1; 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.lista-espremida li {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/* Opção 2: Tira a margem da base de cada item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bullet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*/</a:t>
            </a:r>
          </a:p>
          <a:p>
            <a:pPr>
              <a:lnSpc>
                <a:spcPct val="150000"/>
              </a:lnSpc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margin-bottom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2px; }</a:t>
            </a:r>
            <a:endParaRPr lang="it-IT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542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DBECC6F-7505-DF4B-4AD6-6D89F9E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1825A4D-0201-D999-A5A0-96EF3D120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DESCONTINUADOS: FRAMES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B158F1F-B9D5-3087-FBAE-041409C13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8308711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frameset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entrava no lugar da 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pt-BR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para "fatiar" a tela.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&lt;frame&gt;: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apontava qual site ia em cada fatia.</a:t>
            </a:r>
          </a:p>
          <a:p>
            <a:pPr marL="101600" indent="0">
              <a:buNone/>
            </a:pPr>
            <a:endParaRPr lang="pt-B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noframes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&gt;: 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era um aviso para navegadores muito antigos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ACE1F323-09D7-1178-C7C5-46151AD731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B95F0283-9B98-544D-8DD6-3E6589D9F427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ED6C267C-6C4B-4665-B059-5425ECA25248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0FA6405-3E74-C575-6167-575EB2AD9E93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BCF705D-4042-39F8-2425-4E468D986A0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26CF8CE8-9DB9-06C2-CCB7-7997654F2E0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18946A9-D7CC-2A0F-04E7-23DE2C9537CA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030D0EC-C9A0-91AD-9ED4-70E143CAC588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BF8368F-DD3A-B600-FC2C-FBF98014261E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39D8BA9E-051D-251D-AE44-A6B58A18AC97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1554305-BD74-1A35-00A8-9581B8D1038B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15C03CBC-4039-3731-FACC-5E36B8B1531D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8956D417-1AFE-8F10-45B4-4685432E9B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7F98076D-15A1-AD8A-9E1F-BE4C2517936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15AD232E-6604-EC55-4D74-8ADD292BFA1A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0B2EA9B-4974-FBA3-5FA2-65F7C59D398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9042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DBECC6F-7505-DF4B-4AD6-6D89F9E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1825A4D-0201-D999-A5A0-96EF3D120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DESCONTINUADOS: FRAMES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B158F1F-B9D5-3087-FBAE-041409C13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8308711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ANTIGAMENTE:</a:t>
            </a:r>
          </a:p>
          <a:p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frameset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="25%,75%"&gt;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&lt;frame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="menu.html"&gt;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&lt;frame 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="conteudo.html"&gt;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noframes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&gt;Seu navegador não suporta frames. Atualize-o&lt;/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&lt;/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noframes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101600" inden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frameset</a:t>
            </a: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ACE1F323-09D7-1178-C7C5-46151AD731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B95F0283-9B98-544D-8DD6-3E6589D9F427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ED6C267C-6C4B-4665-B059-5425ECA25248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0FA6405-3E74-C575-6167-575EB2AD9E93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BCF705D-4042-39F8-2425-4E468D986A0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26CF8CE8-9DB9-06C2-CCB7-7997654F2E0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18946A9-D7CC-2A0F-04E7-23DE2C9537CA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030D0EC-C9A0-91AD-9ED4-70E143CAC588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BF8368F-DD3A-B600-FC2C-FBF98014261E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39D8BA9E-051D-251D-AE44-A6B58A18AC97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1554305-BD74-1A35-00A8-9581B8D1038B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15C03CBC-4039-3731-FACC-5E36B8B1531D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8956D417-1AFE-8F10-45B4-4685432E9B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7F98076D-15A1-AD8A-9E1F-BE4C2517936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15AD232E-6604-EC55-4D74-8ADD292BFA1A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0B2EA9B-4974-FBA3-5FA2-65F7C59D398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06428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DBECC6F-7505-DF4B-4AD6-6D89F9E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1825A4D-0201-D999-A5A0-96EF3D120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DESCONTINUADOS: FRAMES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B158F1F-B9D5-3087-FBAE-041409C13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8308711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Hoje em dia podemos dividir em 2 soluções: </a:t>
            </a:r>
            <a:r>
              <a:rPr lang="pt-B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criar um layout com menu lateral fixo e conteúdo do lado com as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semânticas: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aside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organizamos tudo utilizando 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grid ou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OOOOOOOOOOUUUUUUUU </a:t>
            </a:r>
            <a:r>
              <a:rPr lang="pt-B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podemos embutir uma página externa dentro da nossa (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mapa ou vídeo) usando 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iframe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ACE1F323-09D7-1178-C7C5-46151AD731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B95F0283-9B98-544D-8DD6-3E6589D9F427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ED6C267C-6C4B-4665-B059-5425ECA25248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0FA6405-3E74-C575-6167-575EB2AD9E93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BCF705D-4042-39F8-2425-4E468D986A0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26CF8CE8-9DB9-06C2-CCB7-7997654F2E0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18946A9-D7CC-2A0F-04E7-23DE2C9537CA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030D0EC-C9A0-91AD-9ED4-70E143CAC588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BF8368F-DD3A-B600-FC2C-FBF98014261E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39D8BA9E-051D-251D-AE44-A6B58A18AC97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1554305-BD74-1A35-00A8-9581B8D1038B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15C03CBC-4039-3731-FACC-5E36B8B1531D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8956D417-1AFE-8F10-45B4-4685432E9B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7F98076D-15A1-AD8A-9E1F-BE4C2517936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15AD232E-6604-EC55-4D74-8ADD292BFA1A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0B2EA9B-4974-FBA3-5FA2-65F7C59D398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1128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DBECC6F-7505-DF4B-4AD6-6D89F9E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1825A4D-0201-D999-A5A0-96EF3D120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DESCONTINUADOS: FRAMES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B158F1F-B9D5-3087-FBAE-041409C13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8308711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algn="just"/>
            <a:r>
              <a:rPr lang="pt-B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1ª opção: </a:t>
            </a:r>
          </a:p>
          <a:p>
            <a:pPr algn="just"/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="layout-moderno"&gt;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&gt;Meu Menu Lateral&lt;/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&gt;Meu Conteúdo Principal&lt;/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just"/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ACE1F323-09D7-1178-C7C5-46151AD731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B95F0283-9B98-544D-8DD6-3E6589D9F427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ED6C267C-6C4B-4665-B059-5425ECA25248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0FA6405-3E74-C575-6167-575EB2AD9E93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BCF705D-4042-39F8-2425-4E468D986A0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26CF8CE8-9DB9-06C2-CCB7-7997654F2E0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18946A9-D7CC-2A0F-04E7-23DE2C9537CA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030D0EC-C9A0-91AD-9ED4-70E143CAC588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BF8368F-DD3A-B600-FC2C-FBF98014261E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39D8BA9E-051D-251D-AE44-A6B58A18AC97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1554305-BD74-1A35-00A8-9581B8D1038B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15C03CBC-4039-3731-FACC-5E36B8B1531D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8956D417-1AFE-8F10-45B4-4685432E9B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7F98076D-15A1-AD8A-9E1F-BE4C2517936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15AD232E-6604-EC55-4D74-8ADD292BFA1A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0B2EA9B-4974-FBA3-5FA2-65F7C59D398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04752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1DBECC6F-7505-DF4B-4AD6-6D89F9E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1825A4D-0201-D999-A5A0-96EF3D120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DESCONTINUADOS: FRAMES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BB158F1F-B9D5-3087-FBAE-041409C13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682" y="1389584"/>
            <a:ext cx="8308711" cy="34567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algn="just"/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2ª opção: </a:t>
            </a:r>
          </a:p>
          <a:p>
            <a:pPr algn="just"/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&lt;iframe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="https://www.exemplo.com" width="500" height="300" style="border: none;"&gt;&lt;/iframe&gt;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 cria uma "janela" dentro do seu site atual para carregar coisas de fora, sem quebrar a página toda.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Dica: É assim que vídeos do YouTube são colocados em sites hoje.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ACE1F323-09D7-1178-C7C5-46151AD731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B95F0283-9B98-544D-8DD6-3E6589D9F427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ED6C267C-6C4B-4665-B059-5425ECA25248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10FA6405-3E74-C575-6167-575EB2AD9E93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9BCF705D-4042-39F8-2425-4E468D986A0C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26CF8CE8-9DB9-06C2-CCB7-7997654F2E0A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D18946A9-D7CC-2A0F-04E7-23DE2C9537CA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F030D0EC-C9A0-91AD-9ED4-70E143CAC588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0BF8368F-DD3A-B600-FC2C-FBF98014261E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39D8BA9E-051D-251D-AE44-A6B58A18AC97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51554305-BD74-1A35-00A8-9581B8D1038B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15C03CBC-4039-3731-FACC-5E36B8B1531D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8956D417-1AFE-8F10-45B4-4685432E9B5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7F98076D-15A1-AD8A-9E1F-BE4C25179368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15AD232E-6604-EC55-4D74-8ADD292BFA1A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20B2EA9B-4974-FBA3-5FA2-65F7C59D398A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25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6B7E3A71-B8FF-72F4-B76A-EDE00D3B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5628844-7B05-BA91-35B4-3341E84C0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7643E6EC-D4B3-2EF6-AE51-E78E618DD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1172600"/>
            <a:ext cx="3971108" cy="367372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MENUS LATERAIS FIXOS, PODEM UTILIZAR FLEXBOX OU CSS GRID.</a:t>
            </a:r>
          </a:p>
          <a:p>
            <a:endParaRPr lang="pt-BR" b="1" dirty="0"/>
          </a:p>
          <a:p>
            <a:pPr marL="101600" indent="0" algn="just">
              <a:buNone/>
            </a:pPr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FLEXBOX: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alinha elementos dentro de um componente.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centralizar um ícone dentro de um botão, um texto dentro de um botão, colocar imagem lado a lado com um texto. </a:t>
            </a:r>
          </a:p>
          <a:p>
            <a:pPr marL="101600" indent="0">
              <a:buNone/>
            </a:pPr>
            <a:endParaRPr lang="pt-BR" b="1" dirty="0"/>
          </a:p>
          <a:p>
            <a:pPr marL="101600" indent="0">
              <a:buNone/>
            </a:pPr>
            <a:endParaRPr lang="pt-BR" b="1" dirty="0"/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8D17BFE6-3497-4A9D-4CCC-163069D4A2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90FD2441-BE5F-C1A9-E81B-9E205C42405F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7C4522CE-B20D-E3C3-9004-5B7212B7D47F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8B3D38E7-63A6-0E1E-38EC-A2B02C5BD33F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397E2822-9F9F-BE73-AC4F-C55411444949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BDD6E073-AB68-8D1D-9F72-EA9229D494EB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42D54796-1AFB-A198-E670-91C26A1B7719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3508EA1D-9791-50BD-1D09-A5E80DE3AFAD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7A52E915-3EB5-D1C3-3E4C-8131355C5329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BCA4BC06-94E3-D20C-932C-5CD1613ADB61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C0136394-7F34-4AEA-B730-F1C9D7DAC7D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285812E9-8984-8301-CD46-8E6C9001EA88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2B2A7E23-B100-9530-B023-F93D2148DA8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F9083F79-8661-881A-77BC-8CC49C2A537F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C7B9FF61-D234-4DF5-DAB5-DD8D404B4A9E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76B9E57B-EAAF-DDDA-E372-658F22E9B6A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2BCA6E-2F15-4CA0-9333-E1BE044D9F68}"/>
              </a:ext>
            </a:extLst>
          </p:cNvPr>
          <p:cNvSpPr txBox="1"/>
          <p:nvPr/>
        </p:nvSpPr>
        <p:spPr>
          <a:xfrm>
            <a:off x="4284617" y="1584960"/>
            <a:ext cx="472875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Sintaxe: </a:t>
            </a:r>
          </a:p>
          <a:p>
            <a:pPr marL="10160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.meu-menu {</a:t>
            </a:r>
          </a:p>
          <a:p>
            <a:pPr marL="10160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display: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0160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flex-direction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Coloca os itens em linha */</a:t>
            </a:r>
          </a:p>
          <a:p>
            <a:pPr marL="10160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justify-content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space-between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/* Espalha os itens com espaço entre eles */</a:t>
            </a:r>
          </a:p>
          <a:p>
            <a:pPr marL="10160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0698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6B7E3A71-B8FF-72F4-B76A-EDE00D3B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8D17BFE6-3497-4A9D-4CCC-163069D4A2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90FD2441-BE5F-C1A9-E81B-9E205C42405F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7C4522CE-B20D-E3C3-9004-5B7212B7D47F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8B3D38E7-63A6-0E1E-38EC-A2B02C5BD33F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397E2822-9F9F-BE73-AC4F-C55411444949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BDD6E073-AB68-8D1D-9F72-EA9229D494EB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42D54796-1AFB-A198-E670-91C26A1B7719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3508EA1D-9791-50BD-1D09-A5E80DE3AFAD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7A52E915-3EB5-D1C3-3E4C-8131355C5329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BCA4BC06-94E3-D20C-932C-5CD1613ADB61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C0136394-7F34-4AEA-B730-F1C9D7DAC7D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285812E9-8984-8301-CD46-8E6C9001EA88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2B2A7E23-B100-9530-B023-F93D2148DA8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F9083F79-8661-881A-77BC-8CC49C2A537F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C7B9FF61-D234-4DF5-DAB5-DD8D404B4A9E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76B9E57B-EAAF-DDDA-E372-658F22E9B6A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89BBC803-A315-49EF-BCB2-037AAB380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79" y="0"/>
            <a:ext cx="712224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57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AD10EB-F240-433C-B147-1EBEDB08F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80C687-943D-49A3-A7C7-BA51D8AE8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65" y="1677051"/>
            <a:ext cx="8299269" cy="1604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4ECED41-2D69-4CB4-A3A2-BDFB8C822F4C}"/>
              </a:ext>
            </a:extLst>
          </p:cNvPr>
          <p:cNvSpPr txBox="1"/>
          <p:nvPr/>
        </p:nvSpPr>
        <p:spPr>
          <a:xfrm>
            <a:off x="422365" y="470263"/>
            <a:ext cx="2943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2743414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6B7E3A71-B8FF-72F4-B76A-EDE00D3B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>
            <a:extLst>
              <a:ext uri="{FF2B5EF4-FFF2-40B4-BE49-F238E27FC236}">
                <a16:creationId xmlns:a16="http://schemas.microsoft.com/office/drawing/2014/main" id="{B5628844-7B05-BA91-35B4-3341E84C0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DESCONTINUADOS</a:t>
            </a:r>
          </a:p>
        </p:txBody>
      </p:sp>
      <p:sp>
        <p:nvSpPr>
          <p:cNvPr id="190" name="Google Shape;190;p12">
            <a:extLst>
              <a:ext uri="{FF2B5EF4-FFF2-40B4-BE49-F238E27FC236}">
                <a16:creationId xmlns:a16="http://schemas.microsoft.com/office/drawing/2014/main" id="{7643E6EC-D4B3-2EF6-AE51-E78E618DD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1172600"/>
            <a:ext cx="4284616" cy="39709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MENUS LATERAIS FIXOS, PODEM UTILIZAR FLEXBOX OU CSS GRID.</a:t>
            </a:r>
          </a:p>
          <a:p>
            <a:endParaRPr lang="pt-BR" sz="1800" b="1" dirty="0"/>
          </a:p>
          <a:p>
            <a:pPr marL="10160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GRID: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trabalha com linhas e colunas ao mesmo tempo (tipo planilha de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Exemplo: define onde fica o cabeçalho, a barra lateral, o conteúdo principal e o rodapé. Outro exemplo: tal elemento vai ocupar da coluna 1 até a 3, outro elemento da linha 2 até a 4. Controle absoluto de espaço ok?</a:t>
            </a:r>
            <a:endParaRPr lang="pt-BR" sz="1800" dirty="0">
              <a:solidFill>
                <a:schemeClr val="tx1"/>
              </a:solidFill>
            </a:endParaRPr>
          </a:p>
          <a:p>
            <a:pPr marL="101600" indent="0">
              <a:buNone/>
            </a:pPr>
            <a:endParaRPr lang="pt-BR" b="1" dirty="0"/>
          </a:p>
        </p:txBody>
      </p:sp>
      <p:sp>
        <p:nvSpPr>
          <p:cNvPr id="192" name="Google Shape;192;p12">
            <a:extLst>
              <a:ext uri="{FF2B5EF4-FFF2-40B4-BE49-F238E27FC236}">
                <a16:creationId xmlns:a16="http://schemas.microsoft.com/office/drawing/2014/main" id="{8D17BFE6-3497-4A9D-4CCC-163069D4A2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 dirty="0"/>
          </a:p>
        </p:txBody>
      </p:sp>
      <p:grpSp>
        <p:nvGrpSpPr>
          <p:cNvPr id="194" name="Google Shape;194;p12">
            <a:extLst>
              <a:ext uri="{FF2B5EF4-FFF2-40B4-BE49-F238E27FC236}">
                <a16:creationId xmlns:a16="http://schemas.microsoft.com/office/drawing/2014/main" id="{90FD2441-BE5F-C1A9-E81B-9E205C42405F}"/>
              </a:ext>
            </a:extLst>
          </p:cNvPr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>
              <a:extLst>
                <a:ext uri="{FF2B5EF4-FFF2-40B4-BE49-F238E27FC236}">
                  <a16:creationId xmlns:a16="http://schemas.microsoft.com/office/drawing/2014/main" id="{7C4522CE-B20D-E3C3-9004-5B7212B7D47F}"/>
                </a:ext>
              </a:extLst>
            </p:cNvPr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0" t="0" r="0" b="0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>
              <a:extLst>
                <a:ext uri="{FF2B5EF4-FFF2-40B4-BE49-F238E27FC236}">
                  <a16:creationId xmlns:a16="http://schemas.microsoft.com/office/drawing/2014/main" id="{8B3D38E7-63A6-0E1E-38EC-A2B02C5BD33F}"/>
                </a:ext>
              </a:extLst>
            </p:cNvPr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0" t="0" r="0" b="0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>
              <a:extLst>
                <a:ext uri="{FF2B5EF4-FFF2-40B4-BE49-F238E27FC236}">
                  <a16:creationId xmlns:a16="http://schemas.microsoft.com/office/drawing/2014/main" id="{397E2822-9F9F-BE73-AC4F-C55411444949}"/>
                </a:ext>
              </a:extLst>
            </p:cNvPr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0" t="0" r="0" b="0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>
              <a:extLst>
                <a:ext uri="{FF2B5EF4-FFF2-40B4-BE49-F238E27FC236}">
                  <a16:creationId xmlns:a16="http://schemas.microsoft.com/office/drawing/2014/main" id="{BDD6E073-AB68-8D1D-9F72-EA9229D494EB}"/>
                </a:ext>
              </a:extLst>
            </p:cNvPr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>
              <a:extLst>
                <a:ext uri="{FF2B5EF4-FFF2-40B4-BE49-F238E27FC236}">
                  <a16:creationId xmlns:a16="http://schemas.microsoft.com/office/drawing/2014/main" id="{42D54796-1AFB-A198-E670-91C26A1B7719}"/>
                </a:ext>
              </a:extLst>
            </p:cNvPr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>
              <a:extLst>
                <a:ext uri="{FF2B5EF4-FFF2-40B4-BE49-F238E27FC236}">
                  <a16:creationId xmlns:a16="http://schemas.microsoft.com/office/drawing/2014/main" id="{3508EA1D-9791-50BD-1D09-A5E80DE3AFAD}"/>
                </a:ext>
              </a:extLst>
            </p:cNvPr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0" t="0" r="0" b="0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>
              <a:extLst>
                <a:ext uri="{FF2B5EF4-FFF2-40B4-BE49-F238E27FC236}">
                  <a16:creationId xmlns:a16="http://schemas.microsoft.com/office/drawing/2014/main" id="{7A52E915-3EB5-D1C3-3E4C-8131355C5329}"/>
                </a:ext>
              </a:extLst>
            </p:cNvPr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>
              <a:extLst>
                <a:ext uri="{FF2B5EF4-FFF2-40B4-BE49-F238E27FC236}">
                  <a16:creationId xmlns:a16="http://schemas.microsoft.com/office/drawing/2014/main" id="{BCA4BC06-94E3-D20C-932C-5CD1613ADB61}"/>
                </a:ext>
              </a:extLst>
            </p:cNvPr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>
              <a:extLst>
                <a:ext uri="{FF2B5EF4-FFF2-40B4-BE49-F238E27FC236}">
                  <a16:creationId xmlns:a16="http://schemas.microsoft.com/office/drawing/2014/main" id="{C0136394-7F34-4AEA-B730-F1C9D7DAC7D9}"/>
                </a:ext>
              </a:extLst>
            </p:cNvPr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0" t="0" r="0" b="0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285812E9-8984-8301-CD46-8E6C9001EA88}"/>
                </a:ext>
              </a:extLst>
            </p:cNvPr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0" t="0" r="0" b="0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2B2A7E23-B100-9530-B023-F93D2148DA8C}"/>
                </a:ext>
              </a:extLst>
            </p:cNvPr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>
              <a:extLst>
                <a:ext uri="{FF2B5EF4-FFF2-40B4-BE49-F238E27FC236}">
                  <a16:creationId xmlns:a16="http://schemas.microsoft.com/office/drawing/2014/main" id="{F9083F79-8661-881A-77BC-8CC49C2A537F}"/>
                </a:ext>
              </a:extLst>
            </p:cNvPr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>
              <a:extLst>
                <a:ext uri="{FF2B5EF4-FFF2-40B4-BE49-F238E27FC236}">
                  <a16:creationId xmlns:a16="http://schemas.microsoft.com/office/drawing/2014/main" id="{C7B9FF61-D234-4DF5-DAB5-DD8D404B4A9E}"/>
                </a:ext>
              </a:extLst>
            </p:cNvPr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>
              <a:extLst>
                <a:ext uri="{FF2B5EF4-FFF2-40B4-BE49-F238E27FC236}">
                  <a16:creationId xmlns:a16="http://schemas.microsoft.com/office/drawing/2014/main" id="{76B9E57B-EAAF-DDDA-E372-658F22E9B6A6}"/>
                </a:ext>
              </a:extLst>
            </p:cNvPr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0" t="0" r="0" b="0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2BCA6E-2F15-4CA0-9333-E1BE044D9F68}"/>
              </a:ext>
            </a:extLst>
          </p:cNvPr>
          <p:cNvSpPr txBox="1"/>
          <p:nvPr/>
        </p:nvSpPr>
        <p:spPr>
          <a:xfrm>
            <a:off x="4284617" y="836098"/>
            <a:ext cx="48593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 indent="0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Sintaxe:</a:t>
            </a:r>
          </a:p>
          <a:p>
            <a:pPr marL="10160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.meu-layout {</a:t>
            </a: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display: grid;</a:t>
            </a: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grid-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template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200px 1fr; /* Duas colunas: uma fixa de 200px, outra ocupando o resto (1fr) */</a:t>
            </a: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gap: 20px; /* Cria um espaço de 20px entre as colunas e linhas */</a:t>
            </a: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0160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Dica: eles trabalham juntos. É normal encontrar um grid dentro de um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ok?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913755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9F1A55-197F-4973-9E96-133623C9A2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D05AB7C-1281-4E5F-9DC1-F3FB2B595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10" y="0"/>
            <a:ext cx="74889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06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B0426ED-D451-4F4E-B561-B62EE2E667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C48084-3E47-4DEE-A625-825987B3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37" y="1674310"/>
            <a:ext cx="6801799" cy="2648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C3D8929-9EE6-49D5-B3D2-68F264AB9F7D}"/>
              </a:ext>
            </a:extLst>
          </p:cNvPr>
          <p:cNvSpPr txBox="1"/>
          <p:nvPr/>
        </p:nvSpPr>
        <p:spPr>
          <a:xfrm>
            <a:off x="422365" y="470263"/>
            <a:ext cx="29434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158586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5699D-0275-4C33-98DE-086B2A18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497875"/>
            <a:ext cx="8281850" cy="2934788"/>
          </a:xfrm>
        </p:spPr>
        <p:txBody>
          <a:bodyPr/>
          <a:lstStyle/>
          <a:p>
            <a:pPr algn="ctr"/>
            <a:r>
              <a:rPr lang="pt-BR" sz="4000" dirty="0">
                <a:solidFill>
                  <a:schemeClr val="tx1"/>
                </a:solidFill>
              </a:rPr>
              <a:t>EXERCÍCIO VALENDO MENÇÃO PARA ENTREGAREM HOJE</a:t>
            </a:r>
            <a:br>
              <a:rPr lang="pt-BR" sz="4000" dirty="0">
                <a:solidFill>
                  <a:schemeClr val="tx1"/>
                </a:solidFill>
              </a:rPr>
            </a:br>
            <a:br>
              <a:rPr lang="pt-BR" sz="4000" dirty="0">
                <a:solidFill>
                  <a:schemeClr val="tx1"/>
                </a:solidFill>
              </a:rPr>
            </a:br>
            <a:r>
              <a:rPr lang="pt-BR" sz="4000" dirty="0">
                <a:solidFill>
                  <a:schemeClr val="tx1"/>
                </a:solidFill>
              </a:rPr>
              <a:t>(TREINO DAS TAGS QUE VIMOS NESSA AULA)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9D2E94-A331-4B10-8F9A-B5BDA206A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4416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12861A-C2F0-41B4-C689-422F34E798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BBC49EA-4C37-D543-6777-762D057A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59" y="0"/>
            <a:ext cx="78844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61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8CB76A-FFFF-025E-3044-A136AD909F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7041D1E-3EE0-F6F4-B178-C48271499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54" y="0"/>
            <a:ext cx="84558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40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F16E-8453-A260-16DC-B336321F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688ADE-BD2B-FA47-9D69-A1C55BEFA9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24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01EEC9C-1C51-9682-F2FE-282A6A8B8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831"/>
            <a:ext cx="9144000" cy="319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07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958A3-A7D9-C0A7-47BB-AC6CC6014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F9480A-ADCB-A65A-AEB4-30A90D496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25</a:t>
            </a:fld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B5C20A-4800-6FE6-5ECB-AB12906F7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58" y="0"/>
            <a:ext cx="5098083" cy="5143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839190-A6D2-20B0-9701-5016738EF780}"/>
              </a:ext>
            </a:extLst>
          </p:cNvPr>
          <p:cNvSpPr txBox="1"/>
          <p:nvPr/>
        </p:nvSpPr>
        <p:spPr>
          <a:xfrm>
            <a:off x="6968419" y="415853"/>
            <a:ext cx="1800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3758288652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Personalizada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B2D1F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ersonalizada 2">
      <a:majorFont>
        <a:latin typeface="Arial Rounded MT Bold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1502</TotalTime>
  <Words>1165</Words>
  <Application>Microsoft Office PowerPoint</Application>
  <PresentationFormat>Apresentação na tela (16:9)</PresentationFormat>
  <Paragraphs>176</Paragraphs>
  <Slides>25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Times New Roman</vt:lpstr>
      <vt:lpstr>Roboto Condensed Light</vt:lpstr>
      <vt:lpstr>Arvo</vt:lpstr>
      <vt:lpstr>Roboto Condensed</vt:lpstr>
      <vt:lpstr>Salerio template</vt:lpstr>
      <vt:lpstr>REVISÃO PWEB II </vt:lpstr>
      <vt:lpstr>ATRIBUTOS DESCONTINUADOS</vt:lpstr>
      <vt:lpstr>ATRIBUTOS DESCONTINUADOS</vt:lpstr>
      <vt:lpstr>ATRIBUTOS DESCONTINUADOS</vt:lpstr>
      <vt:lpstr>2 OPÇÕES DE COMO UTILIZAR O MARGIN</vt:lpstr>
      <vt:lpstr>2 OPÇÕES DE COMO UTILIZAR O MARGIN</vt:lpstr>
      <vt:lpstr>ATRIBUTOS DESCONTINUADOS</vt:lpstr>
      <vt:lpstr>ATRIBUTOS DESCONTINUADOS</vt:lpstr>
      <vt:lpstr>ATRIBUTOS DESCONTINUADOS</vt:lpstr>
      <vt:lpstr>ATRIBUTOS DESCONTINUADOS: FRAMES</vt:lpstr>
      <vt:lpstr>ATRIBUTOS DESCONTINUADOS: FRAMES</vt:lpstr>
      <vt:lpstr>ATRIBUTOS DESCONTINUADOS: FRAMES</vt:lpstr>
      <vt:lpstr>ATRIBUTOS DESCONTINUADOS: FRAMES</vt:lpstr>
      <vt:lpstr>ATRIBUTOS DESCONTINUADOS: FRAMES</vt:lpstr>
      <vt:lpstr>ATRIBUTOS DESCONTINUADOS</vt:lpstr>
      <vt:lpstr>Apresentação do PowerPoint</vt:lpstr>
      <vt:lpstr>Apresentação do PowerPoint</vt:lpstr>
      <vt:lpstr>ATRIBUTOS DESCONTINUADOS</vt:lpstr>
      <vt:lpstr>Apresentação do PowerPoint</vt:lpstr>
      <vt:lpstr>Apresentação do PowerPoint</vt:lpstr>
      <vt:lpstr>EXERCÍCIO VALENDO MENÇÃO PARA ENTREGAREM HOJE  (TREINO DAS TAGS QUE VIMOS NESSA AULA)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DDW I Profa. Valéria H. P. Gerbelli</dc:title>
  <dc:creator>valeria gerbelli</dc:creator>
  <cp:lastModifiedBy>Lab 06-Micro 10</cp:lastModifiedBy>
  <cp:revision>61</cp:revision>
  <dcterms:modified xsi:type="dcterms:W3CDTF">2026-03-25T14:47:56Z</dcterms:modified>
</cp:coreProperties>
</file>