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27"/>
  </p:notesMasterIdLst>
  <p:sldIdLst>
    <p:sldId id="256" r:id="rId2"/>
    <p:sldId id="456" r:id="rId3"/>
    <p:sldId id="457" r:id="rId4"/>
    <p:sldId id="458" r:id="rId5"/>
    <p:sldId id="459" r:id="rId6"/>
    <p:sldId id="460" r:id="rId7"/>
    <p:sldId id="451" r:id="rId8"/>
    <p:sldId id="462" r:id="rId9"/>
    <p:sldId id="461" r:id="rId10"/>
    <p:sldId id="464" r:id="rId11"/>
    <p:sldId id="463" r:id="rId12"/>
    <p:sldId id="465" r:id="rId13"/>
    <p:sldId id="466" r:id="rId14"/>
    <p:sldId id="467" r:id="rId15"/>
    <p:sldId id="473" r:id="rId16"/>
    <p:sldId id="468" r:id="rId17"/>
    <p:sldId id="469" r:id="rId18"/>
    <p:sldId id="471" r:id="rId19"/>
    <p:sldId id="472" r:id="rId20"/>
    <p:sldId id="474" r:id="rId21"/>
    <p:sldId id="475" r:id="rId22"/>
    <p:sldId id="476" r:id="rId23"/>
    <p:sldId id="478" r:id="rId24"/>
    <p:sldId id="477" r:id="rId25"/>
    <p:sldId id="479" r:id="rId26"/>
  </p:sldIdLst>
  <p:sldSz cx="9144000" cy="5143500" type="screen16x9"/>
  <p:notesSz cx="6858000" cy="9144000"/>
  <p:embeddedFontLst>
    <p:embeddedFont>
      <p:font typeface="Arvo" panose="020B0604020202020204" charset="0"/>
      <p:regular r:id="rId28"/>
      <p:bold r:id="rId29"/>
      <p:italic r:id="rId30"/>
      <p:boldItalic r:id="rId31"/>
    </p:embeddedFont>
    <p:embeddedFont>
      <p:font typeface="Roboto Condensed" panose="02000000000000000000" pitchFamily="2" charset="0"/>
      <p:regular r:id="rId32"/>
      <p:bold r:id="rId33"/>
      <p:italic r:id="rId34"/>
      <p:boldItalic r:id="rId35"/>
    </p:embeddedFont>
    <p:embeddedFont>
      <p:font typeface="Roboto Condensed Light" panose="020000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F6B7A1-2E56-4054-836A-3658AD846B81}">
  <a:tblStyle styleId="{36F6B7A1-2E56-4054-836A-3658AD846B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7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EB8D578C-590A-8C61-37A2-E67D5100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B7E0D27C-A3AB-7139-D17A-CB7D94A084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DF988E63-A4E3-D407-B329-CF83FA0EE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254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A069A467-A88F-EA41-9BB3-C8EC88B52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4ECB8FAC-D3F4-EBB4-83E7-910EA2D36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0A341951-8388-9188-F55C-0629DC011A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5824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7B87E756-C8DC-431A-E202-8C8D38866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483AC1D4-F473-4459-20FA-DEBDCCB82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D9A087AD-B0D2-3226-AEB9-B3411CE9B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7732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149A6268-9ADE-C51A-CA93-C2D2B6EC1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F53E2D87-E122-2AE1-A755-D370D16EB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BF0ADCC3-3C5E-9499-FE36-2F7E33F42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796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0B93F4BC-FC16-FFC0-F13F-E9998CE4A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64EFD9C1-67C4-DE76-07F2-866696083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FB937716-0084-A837-E4E2-A6197A78CD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193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4C25B509-0F09-6E62-D52E-D3FFFC40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53BB2CC4-9E24-C93F-B885-D3AFCFABF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CBD63701-E295-ECB3-9372-2AF2B3BF23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4707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C97BAE17-C673-8977-8F76-1303A46E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99590C52-5956-CED3-5A2F-BA3A91AC56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BAE47521-C201-D524-F6E6-FE77C3A2C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0249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D1CE4B8F-BAB9-EC27-9005-E5C7528C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4C5D0339-3932-BE3E-840C-FAB043B88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709A36D4-628C-7CEE-B5A3-D420BC533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146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BFA0C7E1-5057-2189-E110-47850C98F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29007B79-B24A-5B35-2BDE-4D952410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DD3D73F9-C6FE-E823-359D-A5BCF26B9D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9793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AF87073A-7583-32ED-867C-32F9FC279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FAFAFFED-CDA8-4E15-E284-FE7266BE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705A66EE-B8BB-C91F-4142-F59ED8D164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812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175984B9-816D-7079-7B8A-EEDE47BB6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9BB0189E-BE50-F9F2-C811-9D5E72E8C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2F09A7D4-C2E2-8F6F-CB38-00CD9D0F9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6268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7479DD40-962E-B2EB-8CE2-141C0AD1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3AF48071-232B-BBF2-0E92-9157BA120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D3BFEFDF-30E1-9B47-E7ED-592B5F160B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6411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5290BD04-3634-7448-E975-A8DA7DE5F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CEB8BE55-F760-BA2D-DB41-78FB174DF8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2B65F01E-46F8-2342-5D1C-4BF53574A1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9066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Ref idx="1003">
        <a:schemeClr val="bg2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tx1"/>
          </a:solidFill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  <a:solidFill>
            <a:srgbClr val="0070C0"/>
          </a:solidFill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  <a:grpFill/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6292649" y="126425"/>
            <a:ext cx="779700" cy="2598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84" name="Google Shape;84;p6"/>
          <p:cNvGrpSpPr/>
          <p:nvPr/>
        </p:nvGrpSpPr>
        <p:grpSpPr>
          <a:xfrm rot="10800000" flipH="1">
            <a:off x="3" y="40"/>
            <a:ext cx="6756168" cy="1327315"/>
            <a:chOff x="-2168138" y="330075"/>
            <a:chExt cx="8650663" cy="169950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5" name="Google Shape;85;p6"/>
            <p:cNvSpPr/>
            <p:nvPr/>
          </p:nvSpPr>
          <p:spPr>
            <a:xfrm>
              <a:off x="-2168138" y="330081"/>
              <a:ext cx="6958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87" name="Google Shape;87;p6"/>
          <p:cNvGrpSpPr/>
          <p:nvPr/>
        </p:nvGrpSpPr>
        <p:grpSpPr>
          <a:xfrm rot="10800000" flipH="1">
            <a:off x="-4" y="381007"/>
            <a:ext cx="7072430" cy="771744"/>
            <a:chOff x="-9092084" y="330075"/>
            <a:chExt cx="15574609" cy="1699501"/>
          </a:xfrm>
          <a:solidFill>
            <a:schemeClr val="tx1"/>
          </a:solidFill>
        </p:grpSpPr>
        <p:sp>
          <p:nvSpPr>
            <p:cNvPr id="88" name="Google Shape;88;p6"/>
            <p:cNvSpPr/>
            <p:nvPr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17D50CC-A91B-CFD3-F605-236DCDA5DEB9}"/>
              </a:ext>
            </a:extLst>
          </p:cNvPr>
          <p:cNvGrpSpPr/>
          <p:nvPr userDrawn="1"/>
        </p:nvGrpSpPr>
        <p:grpSpPr>
          <a:xfrm>
            <a:off x="6946842" y="4472723"/>
            <a:ext cx="2202830" cy="670795"/>
            <a:chOff x="6946842" y="4472723"/>
            <a:chExt cx="2202830" cy="670795"/>
          </a:xfrm>
        </p:grpSpPr>
        <p:sp>
          <p:nvSpPr>
            <p:cNvPr id="3" name="Google Shape;32;p3">
              <a:extLst>
                <a:ext uri="{FF2B5EF4-FFF2-40B4-BE49-F238E27FC236}">
                  <a16:creationId xmlns:a16="http://schemas.microsoft.com/office/drawing/2014/main" id="{24956765-EDAA-A904-EAFD-D325A05DAFA7}"/>
                </a:ext>
              </a:extLst>
            </p:cNvPr>
            <p:cNvSpPr/>
            <p:nvPr/>
          </p:nvSpPr>
          <p:spPr>
            <a:xfrm rot="10800000">
              <a:off x="69468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33;p3">
              <a:extLst>
                <a:ext uri="{FF2B5EF4-FFF2-40B4-BE49-F238E27FC236}">
                  <a16:creationId xmlns:a16="http://schemas.microsoft.com/office/drawing/2014/main" id="{FF24B6CC-613D-1026-BCB2-BDD3C7A22D1B}"/>
                </a:ext>
              </a:extLst>
            </p:cNvPr>
            <p:cNvGrpSpPr/>
            <p:nvPr/>
          </p:nvGrpSpPr>
          <p:grpSpPr>
            <a:xfrm flipH="1">
              <a:off x="7106450" y="4472723"/>
              <a:ext cx="2040837" cy="670795"/>
              <a:chOff x="1297954" y="330075"/>
              <a:chExt cx="5169293" cy="169950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8" name="Google Shape;34;p3">
                <a:extLst>
                  <a:ext uri="{FF2B5EF4-FFF2-40B4-BE49-F238E27FC236}">
                    <a16:creationId xmlns:a16="http://schemas.microsoft.com/office/drawing/2014/main" id="{D75C139C-81C9-7248-AF62-4F08E91CB0BF}"/>
                  </a:ext>
                </a:extLst>
              </p:cNvPr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5;p3">
                <a:extLst>
                  <a:ext uri="{FF2B5EF4-FFF2-40B4-BE49-F238E27FC236}">
                    <a16:creationId xmlns:a16="http://schemas.microsoft.com/office/drawing/2014/main" id="{BC881A8F-1EA1-FF56-3474-52D512F990B2}"/>
                  </a:ext>
                </a:extLst>
              </p:cNvPr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36;p3">
              <a:extLst>
                <a:ext uri="{FF2B5EF4-FFF2-40B4-BE49-F238E27FC236}">
                  <a16:creationId xmlns:a16="http://schemas.microsoft.com/office/drawing/2014/main" id="{8418D6E8-D5DF-9475-D4C3-312F9290953C}"/>
                </a:ext>
              </a:extLst>
            </p:cNvPr>
            <p:cNvGrpSpPr/>
            <p:nvPr/>
          </p:nvGrpSpPr>
          <p:grpSpPr>
            <a:xfrm flipH="1">
              <a:off x="6949809" y="4646738"/>
              <a:ext cx="2199863" cy="304563"/>
              <a:chOff x="-5827153" y="330075"/>
              <a:chExt cx="12276019" cy="1699569"/>
            </a:xfrm>
            <a:solidFill>
              <a:schemeClr val="tx1"/>
            </a:solidFill>
          </p:grpSpPr>
          <p:sp>
            <p:nvSpPr>
              <p:cNvPr id="6" name="Google Shape;37;p3">
                <a:extLst>
                  <a:ext uri="{FF2B5EF4-FFF2-40B4-BE49-F238E27FC236}">
                    <a16:creationId xmlns:a16="http://schemas.microsoft.com/office/drawing/2014/main" id="{0E993E44-4E10-F9DD-512C-292C32374F23}"/>
                  </a:ext>
                </a:extLst>
              </p:cNvPr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8;p3">
                <a:extLst>
                  <a:ext uri="{FF2B5EF4-FFF2-40B4-BE49-F238E27FC236}">
                    <a16:creationId xmlns:a16="http://schemas.microsoft.com/office/drawing/2014/main" id="{600D3115-2B6E-E8B0-8071-F16D3C0B4AB3}"/>
                  </a:ext>
                </a:extLst>
              </p:cNvPr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41;p3">
            <a:extLst>
              <a:ext uri="{FF2B5EF4-FFF2-40B4-BE49-F238E27FC236}">
                <a16:creationId xmlns:a16="http://schemas.microsoft.com/office/drawing/2014/main" id="{5B9CB5DD-50AD-CF52-FE03-0169D59EE7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799" y="1090750"/>
            <a:ext cx="6913180" cy="29619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PWEB II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FED66382-4D5D-1A4E-A358-1451E8EC8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471CF318-CF53-BB6A-C058-3772BB5EB0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6F072044-2559-842E-E37F-A07E6883EF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885487" cy="3316639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Atributos de estilo e cores (substituídos por CSS background, color,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spcBef>
                <a:spcPts val="0"/>
              </a:spcBef>
              <a:buNone/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Esses atributos eram usados para "pintar" a página diretamente no HTML. Hoje, todos foram substituídos por propriedades de background, color e 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CSS.</a:t>
            </a:r>
          </a:p>
          <a:p>
            <a:pPr marL="0" indent="0">
              <a:spcBef>
                <a:spcPts val="0"/>
              </a:spcBef>
              <a:buNone/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Definia cor de fundo (usado em &lt;body&gt;, &lt;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Definia imagem de fundo (usado em &lt;body&gt; e tabelas).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Usado na 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&gt;.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Usado em &lt;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ou &lt;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para espessura de borda. 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65EF1A60-8B17-210B-2296-A4E9B23536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96373C0E-7C90-742A-AC91-61A7290C4D60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DED00B4D-8277-12C4-538E-97CD789E73AB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3EA258A1-604E-66E4-9F05-CC4CA5CAA95D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B40ED253-E97D-1870-2196-282C65E8043E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74F6D4CB-3A67-E9E1-7727-3DDA9F633BA0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A824DE7D-AE3C-E281-F4B3-08F5459014E2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4FBF74DC-DCBB-93DC-D18B-1B37DD31FB8E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04A0BDF4-A3BA-05EE-032D-DAE099E4CE22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69F37D69-4625-0DDF-AB9B-69FE5D965330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22986505-62E3-732B-9830-54593C469D91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DA682933-3453-65BD-DE7D-B553D54188E2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DDB9D815-3260-E70C-783E-7F2B04A89BEF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813462DD-F3D8-028F-3051-0ECE5F2D898A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46BC403A-60FD-E82D-2A5D-716C51C47FBC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38DB55CC-2E3A-DDCF-79BB-7A43E9A3E110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 descr="18 melhores memes brasileiros de todos os tempos - DPopular">
            <a:extLst>
              <a:ext uri="{FF2B5EF4-FFF2-40B4-BE49-F238E27FC236}">
                <a16:creationId xmlns:a16="http://schemas.microsoft.com/office/drawing/2014/main" id="{79EDD81A-F09C-B206-F63A-E69A19B9C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609" y="19376"/>
            <a:ext cx="2159391" cy="121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65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49539A04-F2E7-9325-D530-FC72D3686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FD7655EB-F161-B5A1-D502-34A8CB0FEE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0B70CA36-9244-2A07-D076-E3159C2C8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885487" cy="3316639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Definia a cor de fundo de elementos estruturais, como a página inteira ou partes de uma tabela.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ANTIGAMENTE: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="#f0f0f0"&gt;</a:t>
            </a: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="blue"&gt;</a:t>
            </a: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"&gt;Célula vermelha&lt;/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&gt;&lt;/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D02DBA52-1E10-63C6-AC06-117D54F45E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DDA11927-0A8D-7D92-FB02-95E1F5F5B52B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3BDF23AF-EA0B-D892-FDE9-9842FB70D03A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13D4162F-E9CD-3118-2141-3A5F18D9782E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D7EF3591-A3B8-4C9D-C3AC-2D7062150861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50D4A2CA-B72C-B6F3-3108-72BCD02BFE84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92E02E51-048C-EF06-7945-621D4F44CDE1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9C7122CB-46C9-4CD3-4B7B-2A4CB194D142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4FD8BCF0-8E75-0B18-1CEB-FD05446B6728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2CCB3A76-671B-BBD8-7F76-C82BF2215109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EB9E09BC-BF80-8E69-77BA-3A4A52E6DB0C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10CE5C02-9CC8-BF1B-4694-B75DBBABA1D4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179D02A5-F754-3DD1-B4C5-00BF8E25850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5CBA44D6-FCFD-B6E4-7A6A-9B2AD8B22DCE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ABF6B1CD-CED9-6B26-0E3B-0A10AC998599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B4E76D11-8A8C-E761-2014-4AE1243703E5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68ADA1-B02A-5014-9732-523673F14618}"/>
              </a:ext>
            </a:extLst>
          </p:cNvPr>
          <p:cNvSpPr txBox="1"/>
          <p:nvPr/>
        </p:nvSpPr>
        <p:spPr>
          <a:xfrm>
            <a:off x="5155809" y="2096086"/>
            <a:ext cx="3643533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Usamos a propriedade background-color.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{ background-color: #f0f0f0; }</a:t>
            </a:r>
          </a:p>
          <a:p>
            <a:pPr>
              <a:lnSpc>
                <a:spcPct val="150000"/>
              </a:lnSpc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background-color: blue; }</a:t>
            </a:r>
          </a:p>
          <a:p>
            <a:pPr>
              <a:lnSpc>
                <a:spcPct val="150000"/>
              </a:lnSpc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background-color: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}</a:t>
            </a:r>
          </a:p>
          <a:p>
            <a:endParaRPr lang="pt-BR" dirty="0"/>
          </a:p>
        </p:txBody>
      </p:sp>
      <p:pic>
        <p:nvPicPr>
          <p:cNvPr id="2" name="Picture 2" descr="18 melhores memes brasileiros de todos os tempos - DPopular">
            <a:extLst>
              <a:ext uri="{FF2B5EF4-FFF2-40B4-BE49-F238E27FC236}">
                <a16:creationId xmlns:a16="http://schemas.microsoft.com/office/drawing/2014/main" id="{BD6EE466-B478-9DD8-2001-B4171C8E6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609" y="19376"/>
            <a:ext cx="2159391" cy="121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6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4EB97958-4247-C920-1824-1FD2E95D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F6EEC4A7-A8AD-810C-AB77-E120287DE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52529EAD-D889-4195-4F9C-57ED364E70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885487" cy="3316639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10160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Diferente do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este atributo era usado especificamente para colocar uma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imagem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fundo.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ANTIGAMENTE: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 background="textura.jpg"&gt;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B6E9E861-2BA8-0AA4-5B25-05EA671AA8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4C5086E4-4425-66A8-780F-DA160689A713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6246DB61-1125-A39A-AD55-81CB93FD76E4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BA217856-97C9-5906-F29C-C7E881D40882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C15196DB-2AB1-4345-88FA-820F943C7BCF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7C01C85E-120A-2FFE-DCF8-C62B81B0FD42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3C9CD6D9-30EA-4F64-C822-F89907D9CFCB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BAD7BEFE-6767-F2ED-5477-41AF95C267A3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976DB900-D9B8-5078-A205-3A628C91C59F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89D7C62C-E97D-4052-03B9-9928449E38D0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E1E8919B-DF1D-DC64-081A-3DB8B161E7E5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3D661FB6-2CE0-2143-6DBD-B97BDE18B1FC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568DA4A1-1BAB-13C7-A93D-B0485F16BF91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27BEC3E9-4F51-BD7D-40C2-ECF07A857643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E81FB8BD-26C8-79F6-76DD-CC97AABF8028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C8ADFE03-9FEA-1597-F507-6BDEA804F943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A55693D6-4A3A-DCE2-23E0-95E99822ACD9}"/>
              </a:ext>
            </a:extLst>
          </p:cNvPr>
          <p:cNvSpPr txBox="1"/>
          <p:nvPr/>
        </p:nvSpPr>
        <p:spPr>
          <a:xfrm>
            <a:off x="4754881" y="2571750"/>
            <a:ext cx="404446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endParaRPr lang="pt-B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Usamos a propriedade background-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{ background-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('textura.jpg'); }</a:t>
            </a:r>
          </a:p>
          <a:p>
            <a:endParaRPr lang="pt-BR" dirty="0"/>
          </a:p>
        </p:txBody>
      </p:sp>
      <p:pic>
        <p:nvPicPr>
          <p:cNvPr id="2" name="Picture 2" descr="18 melhores memes brasileiros de todos os tempos - DPopular">
            <a:extLst>
              <a:ext uri="{FF2B5EF4-FFF2-40B4-BE49-F238E27FC236}">
                <a16:creationId xmlns:a16="http://schemas.microsoft.com/office/drawing/2014/main" id="{BA772184-747F-CD31-4CB3-B316293D9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609" y="19376"/>
            <a:ext cx="2159391" cy="121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91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2811F99E-BEA0-EEB6-A88E-3DDFE682B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5D57FD6F-53C9-73B1-E628-1FD6851339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00CF742F-0A9E-DC03-30D9-2FC67E119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885487" cy="3316639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atributo era usado quase que exclusivamente dentro da infame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 que foi totalmente banida do HTML moderno.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ANTIGAMENTE: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color="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"&gt;Este texto é verde.&lt;/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C91B9EFF-D373-C378-17ED-5EDD992E40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3A902C73-1EF9-742B-51F0-98C223323326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626DA2C0-9F9F-6033-CF77-3972D5B9E22A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D531DFB9-AE06-26A1-5ABC-052894B9D80E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4FC0BABF-0BDC-43EA-AADA-07C7384A56FE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5C4C24E1-7239-A567-8C77-2AE274A42739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2D803DF6-AEB8-69C2-F16B-FAD1E22DBD8B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A19913A3-46EC-CA19-30EF-ED64E24713A0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C5F757DD-F4A3-067B-1925-4339D12AF640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50E1EDF9-9FF3-7434-B1C3-127B464AE40E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48B7CB83-4A99-72A3-EC1E-617612D99539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F3B83777-4B8D-CDDD-692D-90649E336B13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1CA14195-29F5-0E75-C1B6-05EDF4B97E9F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3D64D6CC-7998-BD7D-F56D-CDE2C6B641F5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D03A146D-5EA9-0B18-50D5-F51E8074E25D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B4443DAE-A141-640E-560B-ED4CF25F604A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1BDACA9D-8039-9117-A1E2-2FF5C63998F9}"/>
              </a:ext>
            </a:extLst>
          </p:cNvPr>
          <p:cNvSpPr txBox="1"/>
          <p:nvPr/>
        </p:nvSpPr>
        <p:spPr>
          <a:xfrm>
            <a:off x="4567613" y="1998895"/>
            <a:ext cx="404446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endParaRPr lang="pt-B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não existe mais. Usamos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semânticas (como &lt;p&gt; ou &lt;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&gt;) com a propriedade CSS color.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&lt;!-- No HTML --&gt;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="texto-verde"&gt;Este texto é verde.&lt;/p&gt;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No CSS */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.texto-verde { color: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}</a:t>
            </a:r>
          </a:p>
          <a:p>
            <a:endParaRPr lang="pt-BR" dirty="0"/>
          </a:p>
        </p:txBody>
      </p:sp>
      <p:pic>
        <p:nvPicPr>
          <p:cNvPr id="2" name="Picture 2" descr="18 melhores memes brasileiros de todos os tempos - DPopular">
            <a:extLst>
              <a:ext uri="{FF2B5EF4-FFF2-40B4-BE49-F238E27FC236}">
                <a16:creationId xmlns:a16="http://schemas.microsoft.com/office/drawing/2014/main" id="{2C8ABBD6-496C-23F9-ED3D-FF1D4DEF6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609" y="19376"/>
            <a:ext cx="2159391" cy="121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554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30CA632D-AB05-8490-9C70-637AC262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CE106049-26E7-47FB-AAD9-30B15C0779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2FCDD7FE-F7EC-19B8-6972-BA7686667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885487" cy="3316639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Definia a espessura da borda, principalmente em tabelas e imagens.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ANTIGAMENTE: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="1"&gt;...&lt;/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="foto.jpg"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="2"&gt;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8B2838A4-F6AF-558C-EBE1-34D71A6B88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14F62040-B5DC-6587-929B-0EB0CD87BAAB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88A3ACBB-934D-E232-BB8C-A31C02BCA1FA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8B6C42FA-4FA7-3207-7420-8E811A0432FE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99DEAE13-23C5-406E-6A65-6540204EEC85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928BE44A-24C0-7E43-EE42-8203767A2866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2E55D063-2BDB-3BCA-54C6-35A277E28072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F4212A34-01B3-A2C9-4AEA-43682334B9EF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09D2DDC1-1289-62F3-F082-18C08170F87D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2A5791CC-8942-EE65-DE9E-6EE8A65DB471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7B077CDA-3E9B-01C2-ECB7-84CF8D46484B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0E3F2B78-C6FC-6453-6505-8A0CB40C5365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7E6FB776-207B-43B7-22C6-FC7794894C9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C2C12325-6A04-6270-7F48-5426BB294A37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F2A436A1-01F9-7100-5EA4-E0AD6231D74C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84622FBF-2C38-A0CF-60C5-7BE0E474A553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664F0F-14C2-D9A6-646A-02371A1825E8}"/>
              </a:ext>
            </a:extLst>
          </p:cNvPr>
          <p:cNvSpPr txBox="1"/>
          <p:nvPr/>
        </p:nvSpPr>
        <p:spPr>
          <a:xfrm>
            <a:off x="4567613" y="2353393"/>
            <a:ext cx="404446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endParaRPr lang="pt-B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CSS oferece um controle muito maior sobre o estilo, cor e espessura da borda com a propriedade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1px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black; }</a:t>
            </a:r>
          </a:p>
          <a:p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2px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}</a:t>
            </a:r>
          </a:p>
          <a:p>
            <a:endParaRPr lang="pt-BR" dirty="0"/>
          </a:p>
        </p:txBody>
      </p:sp>
      <p:pic>
        <p:nvPicPr>
          <p:cNvPr id="2" name="Picture 2" descr="18 melhores memes brasileiros de todos os tempos - DPopular">
            <a:extLst>
              <a:ext uri="{FF2B5EF4-FFF2-40B4-BE49-F238E27FC236}">
                <a16:creationId xmlns:a16="http://schemas.microsoft.com/office/drawing/2014/main" id="{CF46F512-44F8-8D43-5ED4-C4EA5DBD7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609" y="19376"/>
            <a:ext cx="2159391" cy="121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43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46CC5DD9-47A0-4F04-2F2E-D8903EF5C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3D7DA388-5E7C-E20D-BBEA-A6A96C19F0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86A713D3-FA04-A3DE-7AD7-74110A832E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667437" cy="3316639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Atributos de tabelas e quadros (substituídos por CSS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spacing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Tabelas costumavam ser usadas para montar o layout inteiro de um site (uma prática horrorosa hoje em dia ok?). Esses atributos controlavam o espaçamento e as linhas da tabela.</a:t>
            </a:r>
          </a:p>
          <a:p>
            <a:pPr marL="0" indent="0">
              <a:spcBef>
                <a:spcPts val="0"/>
              </a:spcBef>
              <a:buNone/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cellpadding</a:t>
            </a:r>
            <a:r>
              <a:rPr lang="pt-B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cellspacing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Definiam o espaço dentro e entre as células da tabela (&lt;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&gt;).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0E5DA9E9-7ED9-FE57-9E13-442D6F7DD5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66D67046-C6FC-37B9-8BA1-D04E844B635A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B8B45982-F0F6-9BB1-7A8A-21842AE9BF45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8C13FE53-0446-FC6A-A0C5-38BB12E52FA4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1A6CDAF5-D5C1-B621-AC80-805670AC507E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14648AC3-97C0-B974-3856-907C1EA8AB5A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39E94679-E7E2-2A86-37E5-E6C44F29D46A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72B15F82-6E96-716B-6B7E-C8913C41141A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720F416E-AF62-07CF-C61E-F0AAEFC39ECE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F9FACDE0-D6F8-5317-5454-1CE8C6D924A2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D8FAE8F-2EB3-AD3E-8AFC-4B63F204B8E6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A68912AE-9DE4-1E85-E26D-2ED3F5A4FF42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C0CA542B-B23B-A57A-9BB9-CCF92855A767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5F834C18-F449-95D7-DBDA-7853298932AB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30AFEFA4-5B36-650A-7D8D-6779BAE79EC5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5C3C24F5-75D8-41ED-6D8F-CC75045E9871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 descr="Meme-Base Batman Pensando">
            <a:extLst>
              <a:ext uri="{FF2B5EF4-FFF2-40B4-BE49-F238E27FC236}">
                <a16:creationId xmlns:a16="http://schemas.microsoft.com/office/drawing/2014/main" id="{280E2CD7-8270-3351-9E4B-E594F9CE2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656" y="2541"/>
            <a:ext cx="1344344" cy="11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254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2BD6B0F7-B8E8-6C21-C549-EA6F6515E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86141653-FF91-866D-3F71-5749F23FEA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3EEE2FBB-1777-46CA-C684-E766DE4A6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885487" cy="3316639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CELLPADDING &amp; CELLSPACING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Controlavam os espaços da tabela. O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cellpadding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era o espaço </a:t>
            </a:r>
            <a:r>
              <a:rPr lang="pt-BR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dentro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célula (entre o texto e a borda da célula). O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cellspacing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era o espaço </a:t>
            </a:r>
            <a:r>
              <a:rPr lang="pt-BR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células.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ANTIGAMENTE: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cellpadding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="10"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cellspacing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="5"&gt;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89187B73-80DA-C837-799F-C70ACABF23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EEF38C37-E83D-46E8-9CA5-0C55714B8774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4954C4EE-B7DB-E127-49B3-7CF7D2CE7A99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73BB8430-49DE-A309-CA1A-D8EA4074B629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8555AE7A-5782-B7CA-D428-0AD3761770DD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1469B743-DF1C-7E18-30C2-37CCBB30E741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BDAD0CF8-62B8-2C13-76B5-C80F2C7AB1AE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F4A58251-B74D-648F-0E74-C8293B291A4B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2C50E259-84AF-2C49-06FB-391CBBEDD020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5AC9364D-CA7A-ABD6-4759-7200ABCFD71F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AB7B0BD9-F316-5CF3-FF36-C4EB1C8C1F41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E7C80D12-899A-9A9F-0989-1C86D410F0E1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EE9BE440-6BE2-C985-9DAB-50DD121188A4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3B93FFE8-2DD0-4A04-A90D-E2CCB5952F83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0531AF7E-C87E-FEC1-C118-E585D224C5ED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923501E7-888D-420D-BD77-ECF6A0C17964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28051479-AAA0-2F0A-FFB0-3E52C100979B}"/>
              </a:ext>
            </a:extLst>
          </p:cNvPr>
          <p:cNvSpPr txBox="1"/>
          <p:nvPr/>
        </p:nvSpPr>
        <p:spPr>
          <a:xfrm>
            <a:off x="4567613" y="2353393"/>
            <a:ext cx="404446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endParaRPr lang="pt-B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cellpadding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foi substituído pelo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aplicado diretamente nas células (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cellspacing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foi substituído pelo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border-spacing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aplicado na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border-spacing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5px; }</a:t>
            </a:r>
          </a:p>
          <a:p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10px; }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pic>
        <p:nvPicPr>
          <p:cNvPr id="2" name="Picture 2" descr="Meme-Base Batman Pensando">
            <a:extLst>
              <a:ext uri="{FF2B5EF4-FFF2-40B4-BE49-F238E27FC236}">
                <a16:creationId xmlns:a16="http://schemas.microsoft.com/office/drawing/2014/main" id="{0E29AC04-3EC3-E520-AF7C-A7939C849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656" y="2541"/>
            <a:ext cx="1344344" cy="11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694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70A7964F-EC5C-8895-3757-CCB4BF911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67A7A659-350C-3DBD-8612-AF24383FC6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9C97532A-8312-5693-B691-774C370A31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667437" cy="3316639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e </a:t>
            </a:r>
            <a:r>
              <a:rPr lang="pt-B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Definiam bordas da tabela (&lt;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&gt;).</a:t>
            </a:r>
          </a:p>
          <a:p>
            <a:pPr marL="0" indent="0">
              <a:spcBef>
                <a:spcPts val="0"/>
              </a:spcBef>
              <a:buNone/>
            </a:pP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Eram atributos avançados para tabelas. Frame dizia quais bordas externas da tabela apareceriam (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só em cima, só nas laterais).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dizia quais linhas internas apareceriam (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separar só colunas, separar só linhas).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0A9C7506-AF51-96E6-619C-B8C9BC7C1C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560C2340-A813-E271-E57A-292AB1129A91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87369682-4C30-9E10-44EA-74C9BE6E6B25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33669E99-F68D-0993-136F-0A5B72D0EE9F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B810D346-8D43-69C3-A47F-D159884596EE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99A859D0-B7DE-AC02-6DE1-FA7CF637A888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6682412E-9B20-6C22-3B59-E48BC7C37D6F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4D2A7AC7-EF74-800F-2153-68AF62F95419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E01CEABC-CF81-653D-0EC7-7BECC8592029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EB0C1B3A-C25C-AC0A-55FD-0C0BF5615183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E41C358D-2AA2-8610-DA9D-01A88CF15274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63BCF6A9-BF50-324F-268D-BF30310D8829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4009C0B1-328F-79D6-4CC3-53AA4B94106A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1E38A2A2-6DF8-1C54-7289-DBEEA4E8E9B6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807E4FDA-F5EB-9A2F-54D8-C98EBCE3F8B6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6F8C387D-AE86-FD62-5791-E03B68D0372C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2" descr="Meme-Base Batman Pensando">
            <a:extLst>
              <a:ext uri="{FF2B5EF4-FFF2-40B4-BE49-F238E27FC236}">
                <a16:creationId xmlns:a16="http://schemas.microsoft.com/office/drawing/2014/main" id="{957FB12F-E1C3-0920-8857-A7C575D79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656" y="2541"/>
            <a:ext cx="1344344" cy="11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733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B3B87BDC-6B31-3298-FA8D-4BB15290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5778171B-0D0D-E145-4411-4694048F9E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B92EF048-8642-6BD0-2DF6-7EE74304D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885487" cy="389075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FRAME E RULES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ANTIGAMENTE: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frame="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hsides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cols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D43D7843-3CC2-E73D-E526-25E01E68AC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9F45BFD2-91B7-1972-27DD-30D2FFC0719A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A4BCA96E-CA9A-9FA6-D6E1-A72EFE465A0E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688D12E0-E1AC-DF97-E954-949957E90BAE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79233539-E3DE-A4BF-8059-0306DA058922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35C77A0B-E1C5-E8A1-5ECF-9256779524B7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23A63508-CAF6-9C99-1B90-7750AC591041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7F9874FB-7961-73DC-5CCC-5E7ACD002B23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A230CADA-A78B-9B62-86A9-678200802632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766C525B-9756-6DF8-06D2-AE7C1639BC2B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B45E4102-AC82-D405-3EE5-4897360E7C42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96B15DC6-C795-5E9F-C18E-0A03E241378B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AFAB590A-1F84-B93D-3078-3EC630C7313F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EBC1BC45-0754-8730-CFF6-00A7B097F402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91079D35-2D23-BBCE-DF29-1E3AE5E13280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175AE4D3-E625-18D3-F0B7-2F396B2AEE1B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70CC3B-EC88-8F77-F748-7B7FB0041288}"/>
              </a:ext>
            </a:extLst>
          </p:cNvPr>
          <p:cNvSpPr txBox="1"/>
          <p:nvPr/>
        </p:nvSpPr>
        <p:spPr>
          <a:xfrm>
            <a:off x="3650910" y="1400922"/>
            <a:ext cx="5359447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lvl="1"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Nós controlamos isso aplicando propriedades de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elementos específicos (como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border-bottom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nas linhas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border-right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nas células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junto com a propriedade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border-collapse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collapse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na tabela para unificar as linhas.</a:t>
            </a:r>
          </a:p>
          <a:p>
            <a:pPr lvl="1" algn="just">
              <a:lnSpc>
                <a:spcPct val="150000"/>
              </a:lnSpc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border-collapse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collapse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/* Une as bordas */}</a:t>
            </a:r>
          </a:p>
          <a:p>
            <a:pPr lvl="1" algn="just">
              <a:lnSpc>
                <a:spcPct val="150000"/>
              </a:lnSpc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1px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black; </a:t>
            </a:r>
          </a:p>
          <a:p>
            <a:pPr lvl="1"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Bordas ficam juntas */}</a:t>
            </a:r>
          </a:p>
          <a:p>
            <a:endParaRPr lang="pt-BR" dirty="0"/>
          </a:p>
        </p:txBody>
      </p:sp>
      <p:pic>
        <p:nvPicPr>
          <p:cNvPr id="2" name="Picture 2" descr="Meme-Base Batman Pensando">
            <a:extLst>
              <a:ext uri="{FF2B5EF4-FFF2-40B4-BE49-F238E27FC236}">
                <a16:creationId xmlns:a16="http://schemas.microsoft.com/office/drawing/2014/main" id="{F3EAA82E-EC1A-E84C-1390-E740DC1C3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656" y="2541"/>
            <a:ext cx="1344344" cy="11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216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D4BDFC3F-B18E-4AF4-FA22-32432A744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0803E64D-F237-08AC-06DC-8A8BFC5415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6EB27801-783D-9FB9-3E1B-23AE007DC6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667437" cy="3316639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e </a:t>
            </a:r>
            <a:r>
              <a:rPr lang="pt-B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charoff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Alinhamento de colunas com base em um caractere (&lt;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tbody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entre outros).</a:t>
            </a:r>
          </a:p>
          <a:p>
            <a:pPr marL="0" indent="0">
              <a:spcBef>
                <a:spcPts val="0"/>
              </a:spcBef>
              <a:buNone/>
            </a:pP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Eles serviam para alinhar o conteúdo de uma coluna com base em um caractere específico. Exemplo: alinhar uma coluna de preços exatamente pela vírgula (,). O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charoff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definia o deslocamento.</a:t>
            </a:r>
          </a:p>
          <a:p>
            <a:pPr marL="0" indent="0">
              <a:spcBef>
                <a:spcPts val="0"/>
              </a:spcBef>
              <a:buNone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93A3B3B8-8E89-48EF-4851-C8B79E95A2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AC900676-240E-4831-F320-427CF675C156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76D6EB0C-3595-FAC6-6AF5-5D190FD183AD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1155174D-9BB1-C880-F450-EBA3286323F9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4B1B3C0E-B6F9-C4DF-D136-9D7535EB3D7B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586F3D39-C7BB-F2EE-F28E-734B091758C9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D733812A-FA9E-8EDC-145E-2FB4ED6059FF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9668EE5E-AD31-A1B8-B376-D20F7828CA19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8ED8E729-8A49-87ED-EC00-1302773F423A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DF63B4A3-D7D2-FC8F-54B9-48F20DE5CF40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F89B28D2-DA43-3BF5-36F4-7EA2345FF38F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909EF8E9-67F2-5F6E-AAB1-3AE9F576B844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994EC606-0D54-6765-AD35-5207D292BF7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E8572DBB-7D74-AB72-DB78-DECEA799B69E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268433EB-59D0-4EA7-8C7C-62AA149A10BC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200EBE18-28B1-BD86-702E-112E5B0BD0FE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2" descr="Meme-Base Batman Pensando">
            <a:extLst>
              <a:ext uri="{FF2B5EF4-FFF2-40B4-BE49-F238E27FC236}">
                <a16:creationId xmlns:a16="http://schemas.microsoft.com/office/drawing/2014/main" id="{D669ADC6-1BA8-089E-9097-91198DDEC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656" y="2541"/>
            <a:ext cx="1344344" cy="11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422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576C26E-CCB0-E463-B57C-FD374126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1377B772-25F1-5CBF-C139-239765A973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8A26BCF5-3B98-D35A-04F3-557EB2071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885487" cy="389075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CHAR E CHAROFF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ANTIGAMENTE:</a:t>
            </a: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="char" char=","&gt;R$ 1.500,00&lt;/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00CEB45A-89AC-17D9-6A8B-1699A299DA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9A3EAF80-A62C-65D4-3F20-7A9F7D5728E9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9C191B20-857E-CCFC-4F33-F1654408BC43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2D5898A1-901E-AEF6-0B4F-7068C382CC92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C1D34761-40D1-0EE5-5449-0F198A49A5A5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FE607C39-CF55-1B20-25D2-87E2BEB4DF81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F6B840E2-4A24-B59E-F988-FC4CA4156E34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04C117AD-67A5-617C-E15A-A91B820A652F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054C4D8F-3475-523F-8C1C-3D488628D98F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B5C9EDC4-0992-3AF5-5413-E6F7802723F6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9233CCF-42BA-6822-8592-5895E2177EA4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BB82BB89-05A9-70C7-B9D1-B19D4258DAE0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1C4E95FD-513B-2851-0938-82EC5DC7B32B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EC365F8C-9ED5-FFAA-2D3A-7744EC0F6438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4293EEAD-A082-70ED-604A-4A98913C7BE6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9A65FE41-3544-97F6-DDFF-1C6342330730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4AD8D0-FE31-3312-7BDE-FD21C2F3F7AF}"/>
              </a:ext>
            </a:extLst>
          </p:cNvPr>
          <p:cNvSpPr txBox="1"/>
          <p:nvPr/>
        </p:nvSpPr>
        <p:spPr>
          <a:xfrm>
            <a:off x="4312091" y="1294045"/>
            <a:ext cx="4452081" cy="3218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endParaRPr lang="pt-BR" dirty="0"/>
          </a:p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 existe um substituto CSS 1:1 simples e universalmente suportado para o alinhamento por caractere. A solução moderna envolve organizar os dados (separando o "R$", os reais e os centavos em colunas diferentes se precisarem de alinhamento perfeito) ou usar fontes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monoespaçadas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alinhamento à direita (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text-align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;).</a:t>
            </a:r>
          </a:p>
        </p:txBody>
      </p:sp>
      <p:pic>
        <p:nvPicPr>
          <p:cNvPr id="2" name="Picture 2" descr="Meme-Base Batman Pensando">
            <a:extLst>
              <a:ext uri="{FF2B5EF4-FFF2-40B4-BE49-F238E27FC236}">
                <a16:creationId xmlns:a16="http://schemas.microsoft.com/office/drawing/2014/main" id="{05927F56-F35E-594E-9FE1-CD1917EA9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656" y="2541"/>
            <a:ext cx="1344344" cy="11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421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B80ECCF3-69AC-42C8-18E5-A4B29B3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635A5906-C2FC-730E-9CE4-384E50F268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B00497F6-B78B-3C9E-278F-B5520F873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885487" cy="389075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OBSERVAÇÕES SOBRE CHAR E CHAROFF</a:t>
            </a: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 aquela em que todos os caracteres (letras, números e símbolos) ocupam exatamente a mesma largura horizontal. Comum em máquinas de escrever e programação, ela oferece um visual uniforme e alinhado, ideal para legibilidade de código, tabelas e estética retrô.</a:t>
            </a:r>
          </a:p>
          <a:p>
            <a:pPr marL="0" indent="0" algn="just">
              <a:spcBef>
                <a:spcPts val="0"/>
              </a:spcBef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Largura fixa: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 caractere ocupa o mesmo espaço.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Aparência: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lembra máquinas de escrever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Courier) ou terminais de computador.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Usos comuns: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editores de código (IDE), scripts de cinema (para contagem de tempo), tablaturas musicais e designs minimalistas.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Legibilidade: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facilita a leitura de códigos, pois alinha perfeitamente as colunas.</a:t>
            </a:r>
          </a:p>
          <a:p>
            <a:pPr marL="0" indent="0" algn="just">
              <a:spcBef>
                <a:spcPts val="0"/>
              </a:spcBef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Exemplos: courier, consolas, e fira </a:t>
            </a:r>
            <a:r>
              <a:rPr lang="pt-BR" sz="1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pt-BR" sz="1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190CF1D1-76E7-4727-9504-EB85D7B160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84E30A67-FDBC-1616-E3DE-FF20188101D5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755A3E3F-E568-938B-F8CD-D97265EFF7EE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EDE3A9E8-0D57-A844-0C43-599BE0E56A8B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BF654144-C4F3-066A-796F-BB363131F1D3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313B107C-A726-3C34-57DE-A94C25AF1D64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732D2C9B-6490-A405-86B3-D4FDF49C35BE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01D9E51B-CAE4-3F70-2089-60616BBEA223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61522476-37AA-39D5-FBA8-C2845CD65F15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5261229A-CB1E-C85C-BC47-8E1B7003A35C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62ED177E-E9CD-3F30-3FDE-6D3D5614FC7A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82C2D5DE-300A-395D-EDE6-153B4135D995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7FB8CB6C-BAD2-4445-6C3E-87B06C7C9B8F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16AECF4C-2567-47B0-0C17-C19C847198A1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7E2CA0F0-A881-4AE2-F8C1-CDAF8A421F84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28943A8D-A6A6-64CE-081C-9EDB4467645A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2" descr="Meme-Base Batman Pensando">
            <a:extLst>
              <a:ext uri="{FF2B5EF4-FFF2-40B4-BE49-F238E27FC236}">
                <a16:creationId xmlns:a16="http://schemas.microsoft.com/office/drawing/2014/main" id="{7D79EA2D-8A85-1E70-594A-2FA9BBBC5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656" y="2541"/>
            <a:ext cx="1344344" cy="11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707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EBC55E7F-C427-BCDD-8CF1-DCD6ACFBD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05C1FEE7-6BD5-485C-EB6A-35E2BE37F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OBSOLETOS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14A23388-93C4-9CEB-C291-42A27D64B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870" y="1252745"/>
            <a:ext cx="8885487" cy="389075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TENTANDO FACILITAR O ENTENDIMENTO...</a:t>
            </a:r>
            <a:endParaRPr lang="pt-BR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regra de ouro atual do desenvolvimento web é: o HTML diz </a:t>
            </a:r>
            <a:r>
              <a:rPr lang="pt-BR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que</a:t>
            </a:r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coisa é (um parágrafo, uma tabela, uma imagem), e o CSS diz </a:t>
            </a:r>
            <a:r>
              <a:rPr lang="pt-BR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</a:t>
            </a:r>
            <a:r>
              <a:rPr lang="pt-B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ela deve se parecer. Ok?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D67949B1-2A3C-9B6F-37E0-FAED3D3358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1CD2AACE-1A3B-87C9-B8BE-81AC5E676AA3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DFB0403D-5B48-E435-4B4E-9FC14D9F3DAF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2B0B7F7F-1BD7-4092-6370-898D40D0F2B0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B360771E-7FE3-281A-0C80-0526A44EC3EF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B712A20C-3661-5B3F-6A30-92A5924FB80C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C75666E4-FFF7-58A8-B7E4-081198E679BE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2C7E375F-082B-307D-C35D-1C5FDF42BF85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1F11E1B5-4BB3-498F-C0B4-190F1C1FF74F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1E7ED56D-C84B-ECC9-E7B6-163B3E5C709E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319DDC87-DD34-79F0-6997-F0525564337C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FD7E46A2-DA22-D00A-25B0-9623E3E409E3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4F6FC943-977E-97E9-75DA-7DD297360E7A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91A79475-6925-B8C0-F020-469AAB843BBD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2BCF54FB-4F8B-459A-D65C-43EF4205044A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B34FF390-6C0A-9337-6126-CD9862365ABE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4" name="Picture 2" descr="alguém tem aquele meme do cara com o dedo na cabeça como se ele tivesse  pensando, e a foto é toda preto e branca como se ele tivesse nessa pose,  por favor">
            <a:extLst>
              <a:ext uri="{FF2B5EF4-FFF2-40B4-BE49-F238E27FC236}">
                <a16:creationId xmlns:a16="http://schemas.microsoft.com/office/drawing/2014/main" id="{C466DAD7-FEF9-344A-CB23-FD15930B8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801" y="0"/>
            <a:ext cx="1959303" cy="161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906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21EE3-3C1C-F19A-FB6D-EB2C947E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PRÓXIMOS EXERCÍCIOS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026023-B241-B506-5836-9D051EAB6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4" y="1537988"/>
            <a:ext cx="7225411" cy="2724300"/>
          </a:xfrm>
        </p:spPr>
        <p:txBody>
          <a:bodyPr/>
          <a:lstStyle/>
          <a:p>
            <a:pPr marL="101600" indent="0" algn="just">
              <a:buNone/>
            </a:pP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Vocês verão na prática como é escrever em HTML OBSOLETO e verão a diferença de como é agora escrever essas “mesmas </a:t>
            </a:r>
            <a:r>
              <a:rPr lang="pt-B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tags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(novas </a:t>
            </a:r>
            <a:r>
              <a:rPr lang="pt-B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tags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 com o mesmo significado) em CSS (moderno). Ok?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DBECFAE-6E3E-6F1D-C1B2-5A23EE7183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15</a:t>
            </a:fld>
            <a:endParaRPr lang="pt-BR" dirty="0"/>
          </a:p>
        </p:txBody>
      </p:sp>
      <p:pic>
        <p:nvPicPr>
          <p:cNvPr id="15362" name="Picture 2" descr="Como surgiu o famoso meme do Homem-Aranha? - Aventuras na História">
            <a:extLst>
              <a:ext uri="{FF2B5EF4-FFF2-40B4-BE49-F238E27FC236}">
                <a16:creationId xmlns:a16="http://schemas.microsoft.com/office/drawing/2014/main" id="{06035392-BF14-0438-638A-F51395ED6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240" y="0"/>
            <a:ext cx="2651760" cy="1490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235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51C68A-0BA8-3B45-C507-7E8004A66F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53DDE1-5E63-368D-AB29-E1D7BACC31F3}"/>
              </a:ext>
            </a:extLst>
          </p:cNvPr>
          <p:cNvSpPr txBox="1"/>
          <p:nvPr/>
        </p:nvSpPr>
        <p:spPr>
          <a:xfrm>
            <a:off x="443132" y="1491175"/>
            <a:ext cx="82577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Vocês foram contratados para dar manutenção em um site de 1998 de um jogo de RPG textual. O objetivo é criar uma tabela de “status do personagem" utilizando estritamente atributos obsoletos do HTML, sem usar nenhuma folha de estilo (CSS).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4811066-5FA8-1434-6649-470A0935A52D}"/>
              </a:ext>
            </a:extLst>
          </p:cNvPr>
          <p:cNvSpPr/>
          <p:nvPr/>
        </p:nvSpPr>
        <p:spPr>
          <a:xfrm>
            <a:off x="690078" y="258390"/>
            <a:ext cx="45704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EXERCÍCIO 1</a:t>
            </a:r>
          </a:p>
        </p:txBody>
      </p:sp>
      <p:pic>
        <p:nvPicPr>
          <p:cNvPr id="16386" name="Picture 2" descr="52 ideias de Spiderman | memes, homem aranha, memes de desenhos animados">
            <a:extLst>
              <a:ext uri="{FF2B5EF4-FFF2-40B4-BE49-F238E27FC236}">
                <a16:creationId xmlns:a16="http://schemas.microsoft.com/office/drawing/2014/main" id="{02986E75-64AB-6EF4-5448-2F453D7A4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308" y="0"/>
            <a:ext cx="1628692" cy="118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3752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B9946-2D24-6F2E-5838-57501763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15B154-3C57-40B5-2D8B-2ED08636D4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E1C21FA-E20C-460B-0422-2EA5A73D9382}"/>
              </a:ext>
            </a:extLst>
          </p:cNvPr>
          <p:cNvSpPr/>
          <p:nvPr/>
        </p:nvSpPr>
        <p:spPr>
          <a:xfrm>
            <a:off x="747789" y="258390"/>
            <a:ext cx="44550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REQUISITOS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6B9D221-A7D6-6E68-B6D6-547C07BF280E}"/>
              </a:ext>
            </a:extLst>
          </p:cNvPr>
          <p:cNvSpPr txBox="1"/>
          <p:nvPr/>
        </p:nvSpPr>
        <p:spPr>
          <a:xfrm>
            <a:off x="365760" y="1406769"/>
            <a:ext cx="813112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Definam a cor de fundo da página como cinza claro e use uma imagem de "pedra" como fundo.</a:t>
            </a:r>
          </a:p>
          <a:p>
            <a:pPr marL="342900" indent="-342900">
              <a:buFont typeface="+mj-lt"/>
              <a:buAutoNum type="arabicParenR"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Criem uma tabela com borda de tamanho 5 e um quadro (frame) visível apenas nas partes externas.</a:t>
            </a:r>
          </a:p>
          <a:p>
            <a:pPr marL="342900" indent="-342900">
              <a:buFont typeface="+mj-lt"/>
              <a:buAutoNum type="arabicParenR"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primeira linha da tabela deve ter o texto "Guerreiro Nível 10" na cor azul, usando 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&gt;.</a:t>
            </a:r>
          </a:p>
          <a:p>
            <a:pPr marL="342900" indent="-342900">
              <a:buFont typeface="+mj-lt"/>
              <a:buAutoNum type="arabicParenR"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Insira a imagem do avatar do jogador com uma borda de 3 pixels.</a:t>
            </a:r>
          </a:p>
          <a:p>
            <a:pPr marL="342900" indent="-342900">
              <a:buFont typeface="+mj-lt"/>
              <a:buAutoNum type="arabicParenR"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Crie uma coluna de “atributos" onde os números devem ser alinhados pelo caractere de ponto decimal (simulando o comportamento de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="char").</a:t>
            </a:r>
          </a:p>
        </p:txBody>
      </p:sp>
    </p:spTree>
    <p:extLst>
      <p:ext uri="{BB962C8B-B14F-4D97-AF65-F5344CB8AC3E}">
        <p14:creationId xmlns:p14="http://schemas.microsoft.com/office/powerpoint/2010/main" val="2806650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7AF492-6FBB-4875-0537-0621A7C0C5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C95A63-BB26-83B7-781A-190657C36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82" y="0"/>
            <a:ext cx="70262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46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17A952B-0A73-B2B1-C931-858B4101FB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05FD0EB-8A23-3A6D-37CB-684236D0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102" y="294106"/>
            <a:ext cx="9144000" cy="465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330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EE22-2724-F6EE-29C2-9088D1A1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5559AFC-65DE-6229-331A-6E90343B55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20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2038D35-4791-C225-7EDF-F1355275FD1E}"/>
              </a:ext>
            </a:extLst>
          </p:cNvPr>
          <p:cNvSpPr txBox="1"/>
          <p:nvPr/>
        </p:nvSpPr>
        <p:spPr>
          <a:xfrm>
            <a:off x="443132" y="1491175"/>
            <a:ext cx="82577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Agora, vocês deve recriar a mesma interface de status do jogo, mas utilizando as práticas modernas de desenvolvimento Web. Substituam todos os atributos de formatação do HTML por propriedades equivalentes em CSS.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F4FFCF3-F4A0-06DF-E7B1-9BF0C993F118}"/>
              </a:ext>
            </a:extLst>
          </p:cNvPr>
          <p:cNvSpPr/>
          <p:nvPr/>
        </p:nvSpPr>
        <p:spPr>
          <a:xfrm>
            <a:off x="690078" y="258390"/>
            <a:ext cx="45704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EXERCÍCIO 2</a:t>
            </a:r>
          </a:p>
        </p:txBody>
      </p:sp>
      <p:pic>
        <p:nvPicPr>
          <p:cNvPr id="2" name="Picture 2" descr="52 ideias de Spiderman | memes, homem aranha, memes de desenhos animados">
            <a:extLst>
              <a:ext uri="{FF2B5EF4-FFF2-40B4-BE49-F238E27FC236}">
                <a16:creationId xmlns:a16="http://schemas.microsoft.com/office/drawing/2014/main" id="{3CBC9DB5-A60F-CEFC-2216-FABD60B30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308" y="0"/>
            <a:ext cx="1628692" cy="118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164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71760-A2EA-2D37-F6C4-8F609C48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D41CFE-C2D8-A743-ADF4-5CFECED542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21</a:t>
            </a:fld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15930B7-9797-BC42-D99A-DA28742680BE}"/>
              </a:ext>
            </a:extLst>
          </p:cNvPr>
          <p:cNvSpPr/>
          <p:nvPr/>
        </p:nvSpPr>
        <p:spPr>
          <a:xfrm>
            <a:off x="747789" y="258390"/>
            <a:ext cx="44550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rgbClr val="FFFF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REQUISITOS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BB97CDD-630F-AC8E-D85C-BA16E47CF62E}"/>
              </a:ext>
            </a:extLst>
          </p:cNvPr>
          <p:cNvSpPr txBox="1"/>
          <p:nvPr/>
        </p:nvSpPr>
        <p:spPr>
          <a:xfrm>
            <a:off x="38599" y="1343291"/>
            <a:ext cx="87818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Removam todos os atributos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background, color,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&gt;.</a:t>
            </a:r>
          </a:p>
          <a:p>
            <a:pPr marL="342900" indent="-342900">
              <a:buFont typeface="+mj-lt"/>
              <a:buAutoNum type="arabicParenR"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CSS, apliquem background-color e background-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corpo da página.</a:t>
            </a:r>
          </a:p>
          <a:p>
            <a:pPr marL="342900" indent="-342900">
              <a:buFont typeface="+mj-lt"/>
              <a:buAutoNum type="arabicParenR"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Criem uma classe .texto-azul que defina a cor como azul (conforme a regra solicitada: .texto-azul {color: azul;}).</a:t>
            </a:r>
          </a:p>
          <a:p>
            <a:pPr marL="342900" indent="-342900">
              <a:buFont typeface="+mj-lt"/>
              <a:buAutoNum type="arabicParenR"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a tabela para que as bordas sejam unificadas (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border-collapse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 aplique bordas diretamente via CSS em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arenR"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Substitua o antigo alinhamento de caractere (char) por uma estrutura moderna de classes ou alinhamento de texto (lembrando: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="char" não é suportado pelos navegadores modernos, geralmente usamos alinhamento à direita ou fontes </a:t>
            </a:r>
            <a:b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monoespaçadas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simular o efeito).</a:t>
            </a:r>
          </a:p>
        </p:txBody>
      </p:sp>
    </p:spTree>
    <p:extLst>
      <p:ext uri="{BB962C8B-B14F-4D97-AF65-F5344CB8AC3E}">
        <p14:creationId xmlns:p14="http://schemas.microsoft.com/office/powerpoint/2010/main" val="2589898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993598C-C600-E359-B78A-A72129305F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22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A5308C-3B63-736F-E211-BDB4AC108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29" y="0"/>
            <a:ext cx="601734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97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6D2140F-80AF-AE2B-7CD1-7324A70E0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23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4B64FCA-EF27-08DB-A121-A2F871B06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15" y="0"/>
            <a:ext cx="864617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87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0BA26-0F41-5CF3-9D9E-D3A2754E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FA04FF-3194-8289-0975-2B19393184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24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567B656-C0E3-B8FB-35A9-15620D120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291"/>
            <a:ext cx="9144000" cy="466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36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1B86D-6109-AFB0-12D4-A9B7A6B8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4304"/>
            <a:ext cx="7132320" cy="746908"/>
          </a:xfrm>
        </p:spPr>
        <p:txBody>
          <a:bodyPr/>
          <a:lstStyle/>
          <a:p>
            <a:r>
              <a:rPr lang="pt-BR" sz="3200" dirty="0"/>
              <a:t>EXERCÍCIO AVALIATIVO (VALE MENÇÃO)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27A65A-7524-8F88-E9F8-BC1FCC632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5" y="1537988"/>
            <a:ext cx="6747110" cy="2724300"/>
          </a:xfrm>
        </p:spPr>
        <p:txBody>
          <a:bodyPr/>
          <a:lstStyle/>
          <a:p>
            <a:pPr algn="just"/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Aos que terminaram os exercícios de PWII e BDII, por favor, me mostrem entre hoje: 31/03/2026 e 02/04/2026 para que eu possa lançar as menções de vocês, ok?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F790F90-D625-AEF4-561B-0053632A2B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25</a:t>
            </a:fld>
            <a:endParaRPr lang="pt-BR" dirty="0"/>
          </a:p>
        </p:txBody>
      </p:sp>
      <p:pic>
        <p:nvPicPr>
          <p:cNvPr id="17410" name="Picture 2" descr="Joinha GIFs | Tenor">
            <a:extLst>
              <a:ext uri="{FF2B5EF4-FFF2-40B4-BE49-F238E27FC236}">
                <a16:creationId xmlns:a16="http://schemas.microsoft.com/office/drawing/2014/main" id="{83026ACE-9DB2-FFFC-61CD-444C033EB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0"/>
            <a:ext cx="1676400" cy="154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943139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Personalizada 3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B2D1F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ersonalizada 2">
      <a:majorFont>
        <a:latin typeface="Arial Rounded MT Bold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1629</TotalTime>
  <Words>1463</Words>
  <Application>Microsoft Office PowerPoint</Application>
  <PresentationFormat>Apresentação na tela (16:9)</PresentationFormat>
  <Paragraphs>215</Paragraphs>
  <Slides>25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Arial</vt:lpstr>
      <vt:lpstr>Arvo</vt:lpstr>
      <vt:lpstr>Times New Roman</vt:lpstr>
      <vt:lpstr>Roboto Condensed</vt:lpstr>
      <vt:lpstr>Roboto Condensed Light</vt:lpstr>
      <vt:lpstr>Salerio template</vt:lpstr>
      <vt:lpstr>REVISÃO PWEB II </vt:lpstr>
      <vt:lpstr>ATRIBUTOS OBSOLETOS</vt:lpstr>
      <vt:lpstr>ATRIBUTOS OBSOLETOS</vt:lpstr>
      <vt:lpstr>ATRIBUTOS OBSOLETOS</vt:lpstr>
      <vt:lpstr>ATRIBUTOS OBSOLETOS</vt:lpstr>
      <vt:lpstr>ATRIBUTOS OBSOLETOS</vt:lpstr>
      <vt:lpstr>ATRIBUTOS OBSOLETOS</vt:lpstr>
      <vt:lpstr>ATRIBUTOS OBSOLETOS</vt:lpstr>
      <vt:lpstr>ATRIBUTOS OBSOLETOS</vt:lpstr>
      <vt:lpstr>ATRIBUTOS OBSOLETOS</vt:lpstr>
      <vt:lpstr>ATRIBUTOS OBSOLETOS</vt:lpstr>
      <vt:lpstr>ATRIBUTOS OBSOLETOS</vt:lpstr>
      <vt:lpstr>ATRIBUTOS OBSOLETOS</vt:lpstr>
      <vt:lpstr>ATRIBUTOS OBSOLETOS</vt:lpstr>
      <vt:lpstr>PRÓXIMOS EXERCÍCIOS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 AVALIATIVO (VALE MENÇÃO)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DDW I Profa. Valéria H. P. Gerbelli</dc:title>
  <dc:creator>valeria gerbelli</dc:creator>
  <cp:lastModifiedBy>Célide Tasso</cp:lastModifiedBy>
  <cp:revision>59</cp:revision>
  <dcterms:modified xsi:type="dcterms:W3CDTF">2026-03-28T15:10:12Z</dcterms:modified>
</cp:coreProperties>
</file>