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5"/>
  </p:notesMasterIdLst>
  <p:sldIdLst>
    <p:sldId id="436" r:id="rId2"/>
    <p:sldId id="441" r:id="rId3"/>
    <p:sldId id="454" r:id="rId4"/>
    <p:sldId id="453" r:id="rId5"/>
    <p:sldId id="455" r:id="rId6"/>
    <p:sldId id="456" r:id="rId7"/>
    <p:sldId id="457" r:id="rId8"/>
    <p:sldId id="458" r:id="rId9"/>
    <p:sldId id="474" r:id="rId10"/>
    <p:sldId id="459" r:id="rId11"/>
    <p:sldId id="460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3" r:id="rId22"/>
    <p:sldId id="471" r:id="rId23"/>
    <p:sldId id="472" r:id="rId24"/>
  </p:sldIdLst>
  <p:sldSz cx="9144000" cy="5143500" type="screen16x9"/>
  <p:notesSz cx="6858000" cy="9144000"/>
  <p:embeddedFontLst>
    <p:embeddedFont>
      <p:font typeface="Arvo" panose="020B0604020202020204" charset="0"/>
      <p:regular r:id="rId26"/>
      <p:bold r:id="rId27"/>
      <p:italic r:id="rId28"/>
      <p:boldItalic r:id="rId29"/>
    </p:embeddedFont>
    <p:embeddedFont>
      <p:font typeface="Roboto Condensed" panose="02000000000000000000" pitchFamily="2" charset="0"/>
      <p:regular r:id="rId30"/>
      <p:bold r:id="rId31"/>
      <p:italic r:id="rId32"/>
      <p:boldItalic r:id="rId33"/>
    </p:embeddedFont>
    <p:embeddedFont>
      <p:font typeface="Roboto Condensed Light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F6B7A1-2E56-4054-836A-3658AD846B81}">
  <a:tblStyle styleId="{36F6B7A1-2E56-4054-836A-3658AD846B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014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865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836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  <a:solidFill>
            <a:schemeClr val="tx1"/>
          </a:solidFill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887670A-70EA-47EF-397E-04C891C4F202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292649" y="126425"/>
            <a:ext cx="779700" cy="2598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 rot="10800000" flipH="1">
            <a:off x="3" y="40"/>
            <a:ext cx="6756168" cy="1327315"/>
            <a:chOff x="-2168138" y="330075"/>
            <a:chExt cx="8650663" cy="169950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5" name="Google Shape;85;p6"/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 rot="10800000" flipH="1">
            <a:off x="-4" y="381007"/>
            <a:ext cx="7072430" cy="771744"/>
            <a:chOff x="-9092084" y="330075"/>
            <a:chExt cx="15574609" cy="1699501"/>
          </a:xfrm>
          <a:solidFill>
            <a:schemeClr val="tx1"/>
          </a:solidFill>
        </p:grpSpPr>
        <p:sp>
          <p:nvSpPr>
            <p:cNvPr id="88" name="Google Shape;88;p6"/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17D50CC-A91B-CFD3-F605-236DCDA5DEB9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" name="Google Shape;32;p3">
              <a:extLst>
                <a:ext uri="{FF2B5EF4-FFF2-40B4-BE49-F238E27FC236}">
                  <a16:creationId xmlns:a16="http://schemas.microsoft.com/office/drawing/2014/main" id="{24956765-EDAA-A904-EAFD-D325A05DAFA7}"/>
                </a:ext>
              </a:extLst>
            </p:cNvPr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3;p3">
              <a:extLst>
                <a:ext uri="{FF2B5EF4-FFF2-40B4-BE49-F238E27FC236}">
                  <a16:creationId xmlns:a16="http://schemas.microsoft.com/office/drawing/2014/main" id="{FF24B6CC-613D-1026-BCB2-BDD3C7A22D1B}"/>
                </a:ext>
              </a:extLst>
            </p:cNvPr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8" name="Google Shape;34;p3">
                <a:extLst>
                  <a:ext uri="{FF2B5EF4-FFF2-40B4-BE49-F238E27FC236}">
                    <a16:creationId xmlns:a16="http://schemas.microsoft.com/office/drawing/2014/main" id="{D75C139C-81C9-7248-AF62-4F08E91CB0BF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5;p3">
                <a:extLst>
                  <a:ext uri="{FF2B5EF4-FFF2-40B4-BE49-F238E27FC236}">
                    <a16:creationId xmlns:a16="http://schemas.microsoft.com/office/drawing/2014/main" id="{BC881A8F-1EA1-FF56-3474-52D512F990B2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6;p3">
              <a:extLst>
                <a:ext uri="{FF2B5EF4-FFF2-40B4-BE49-F238E27FC236}">
                  <a16:creationId xmlns:a16="http://schemas.microsoft.com/office/drawing/2014/main" id="{8418D6E8-D5DF-9475-D4C3-312F9290953C}"/>
                </a:ext>
              </a:extLst>
            </p:cNvPr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6" name="Google Shape;37;p3">
                <a:extLst>
                  <a:ext uri="{FF2B5EF4-FFF2-40B4-BE49-F238E27FC236}">
                    <a16:creationId xmlns:a16="http://schemas.microsoft.com/office/drawing/2014/main" id="{0E993E44-4E10-F9DD-512C-292C32374F23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;p3">
                <a:extLst>
                  <a:ext uri="{FF2B5EF4-FFF2-40B4-BE49-F238E27FC236}">
                    <a16:creationId xmlns:a16="http://schemas.microsoft.com/office/drawing/2014/main" id="{600D3115-2B6E-E8B0-8071-F16D3C0B4AB3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41;p3">
            <a:extLst>
              <a:ext uri="{FF2B5EF4-FFF2-40B4-BE49-F238E27FC236}">
                <a16:creationId xmlns:a16="http://schemas.microsoft.com/office/drawing/2014/main" id="{5B9CB5DD-50AD-CF52-FE03-0169D59EE7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63524" y="2871148"/>
            <a:ext cx="5845835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COM HTML5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F2AE31-9CFE-49AB-9FFD-9051F7C688A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97439" y="347539"/>
            <a:ext cx="2441121" cy="244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9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/>
          <p:cNvSpPr txBox="1">
            <a:spLocks noGrp="1"/>
          </p:cNvSpPr>
          <p:nvPr>
            <p:ph type="body" idx="1"/>
          </p:nvPr>
        </p:nvSpPr>
        <p:spPr>
          <a:xfrm>
            <a:off x="293683" y="1389584"/>
            <a:ext cx="7480942" cy="3667751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ATRIBUTOS DE APRESENTAÇÃO (ESTILIZAÇÃO)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Estes atributos eram usados para mudar a cor, tamanho ou alinhamento e foram substituídos pelo CSS: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&lt;h1-h6&gt;, &lt;p&gt;,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caption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&lt;body&gt;.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e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(embora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="0" seja às vezes tolerado, prefira CSS).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(preenchimento da célula)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cellspacing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(espaçamento entre células)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Utilizados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Utilizados em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(texto pré-definido).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vlink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alink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link, </a:t>
            </a: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Utilizados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&lt;body&gt;.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(empurra o texto para baixo de qualquer elemento flutuante)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Utilizado na 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&gt;..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8609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565E34-2B7A-461B-B5BF-3F270FC93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ED7F20-D901-41B7-BA14-5D6E96606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94" y="1247188"/>
            <a:ext cx="8298611" cy="297705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C365F94-C3B2-252B-FD58-A67DD45D45F4}"/>
              </a:ext>
            </a:extLst>
          </p:cNvPr>
          <p:cNvSpPr txBox="1"/>
          <p:nvPr/>
        </p:nvSpPr>
        <p:spPr>
          <a:xfrm>
            <a:off x="422693" y="4252422"/>
            <a:ext cx="6400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que são </a:t>
            </a:r>
            <a:r>
              <a:rPr lang="pt-BR" sz="1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pseudo-classes</a:t>
            </a:r>
            <a:r>
              <a:rPr lang="pt-BR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ele entra em um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estado especial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Quando passa o mouse por cima do link e a cor muda, quando o link após clicado muda a cor, enfim,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quando ele muda, ok?</a:t>
            </a:r>
          </a:p>
        </p:txBody>
      </p:sp>
    </p:spTree>
    <p:extLst>
      <p:ext uri="{BB962C8B-B14F-4D97-AF65-F5344CB8AC3E}">
        <p14:creationId xmlns:p14="http://schemas.microsoft.com/office/powerpoint/2010/main" val="3758264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011FC-2A4C-40FC-94F9-86DCA50D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Ai vocês me olham com essa cara: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BE9E79-FC18-4D24-8094-6A391A4320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 dirty="0"/>
          </a:p>
        </p:txBody>
      </p:sp>
      <p:pic>
        <p:nvPicPr>
          <p:cNvPr id="1030" name="Picture 6" descr="Pin de 🐻 em vários meme | Memes engraçados whatsapp, Memes engraçados,  Memes gretchen">
            <a:extLst>
              <a:ext uri="{FF2B5EF4-FFF2-40B4-BE49-F238E27FC236}">
                <a16:creationId xmlns:a16="http://schemas.microsoft.com/office/drawing/2014/main" id="{87A85E07-006F-455C-B187-359FCC45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541" y="1900426"/>
            <a:ext cx="2948346" cy="242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do mundo usando a foto do Neymar / eu sem entender nada.">
            <a:extLst>
              <a:ext uri="{FF2B5EF4-FFF2-40B4-BE49-F238E27FC236}">
                <a16:creationId xmlns:a16="http://schemas.microsoft.com/office/drawing/2014/main" id="{FA626EC4-DC62-4C24-9870-A44949208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87" y="1904101"/>
            <a:ext cx="2412519" cy="242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43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B2391-4BCB-473A-BF4B-B910920C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EXPLICAÇÃO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DC70FA-BECC-479D-B7F7-545CAD715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4" y="1537987"/>
            <a:ext cx="6949500" cy="3327311"/>
          </a:xfrm>
        </p:spPr>
        <p:txBody>
          <a:bodyPr/>
          <a:lstStyle/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mundo da programação, às vezes o </a:t>
            </a:r>
            <a:r>
              <a:rPr lang="pt-B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regra/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continua o mesmo, mas 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lugar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onde você a escreve e a </a:t>
            </a:r>
            <a:r>
              <a:rPr lang="pt-BR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</a:t>
            </a:r>
            <a:r>
              <a:rPr lang="pt-BR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ela funciona mudam completamente.</a:t>
            </a:r>
          </a:p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a tabela mostra não é que o atributo continuou igual, mas sim que o HTML "entregou o bastão" para o CSS.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95C496-12BB-4CEA-955A-D940466FA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175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EXPLICANDO...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442" y="1537987"/>
            <a:ext cx="8091577" cy="3212937"/>
          </a:xfrm>
        </p:spPr>
        <p:txBody>
          <a:bodyPr/>
          <a:lstStyle/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principal diferença é que antes esses nomes eram </a:t>
            </a:r>
            <a:r>
              <a:rPr lang="pt-BR" sz="36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(dentro da </a:t>
            </a:r>
            <a:r>
              <a:rPr lang="pt-B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HTML) e agora são </a:t>
            </a:r>
            <a:r>
              <a:rPr lang="pt-BR" sz="3600" b="1" i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PROPRIEDADES </a:t>
            </a:r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(dentro de um bloco de estilo CSS).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109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08" y="228673"/>
            <a:ext cx="6500926" cy="766200"/>
          </a:xfrm>
        </p:spPr>
        <p:txBody>
          <a:bodyPr/>
          <a:lstStyle/>
          <a:p>
            <a:r>
              <a:rPr lang="pt-BR" sz="3200" dirty="0"/>
              <a:t>ANTIGAMENTE VERSUS ATUALMENTE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72227"/>
            <a:ext cx="7682744" cy="3212937"/>
          </a:xfrm>
        </p:spPr>
        <p:txBody>
          <a:bodyPr/>
          <a:lstStyle/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 (HTML):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 escrevia direto na "carne" do elemento.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="1"&gt;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O navegador entendia isso como uma instrução de estrutura.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Hoje (CSS):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Você usa um seletor para aplicar a regra.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1px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pt-B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}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O navegador entende que o HTML é apenas uma tabela e o CSS é quem desenha a borda.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AD74991-269C-FED4-7FC3-8DB7F6BD2E17}"/>
              </a:ext>
            </a:extLst>
          </p:cNvPr>
          <p:cNvSpPr txBox="1"/>
          <p:nvPr/>
        </p:nvSpPr>
        <p:spPr>
          <a:xfrm>
            <a:off x="106908" y="4385165"/>
            <a:ext cx="7338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SELETOR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... }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BLOCO DE DECLARAÇÃO     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 =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PROPRIEDADE</a:t>
            </a:r>
          </a:p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ESPESSURA DA BORDA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=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ESTILO (CONTÍNUA E SÓLIDA) </a:t>
            </a:r>
          </a:p>
          <a:p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      </a:t>
            </a:r>
            <a:r>
              <a:rPr lang="pt-BR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=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ENCERRA O COMANDO</a:t>
            </a:r>
          </a:p>
          <a:p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CF1940F-BDA8-577A-881E-7928F1301F66}"/>
              </a:ext>
            </a:extLst>
          </p:cNvPr>
          <p:cNvSpPr/>
          <p:nvPr/>
        </p:nvSpPr>
        <p:spPr>
          <a:xfrm>
            <a:off x="107585" y="4367140"/>
            <a:ext cx="7338086" cy="7583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Picture 3" descr="Meme-Base Batman Pensando">
            <a:extLst>
              <a:ext uri="{FF2B5EF4-FFF2-40B4-BE49-F238E27FC236}">
                <a16:creationId xmlns:a16="http://schemas.microsoft.com/office/drawing/2014/main" id="{95AD2F42-4452-1079-7971-8A030CE62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87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1" y="392575"/>
            <a:ext cx="5924964" cy="766200"/>
          </a:xfrm>
        </p:spPr>
        <p:txBody>
          <a:bodyPr/>
          <a:lstStyle/>
          <a:p>
            <a:pPr algn="just"/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aparecem dos dois lados, certo?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7027" y="1158775"/>
            <a:ext cx="9074079" cy="3984725"/>
          </a:xfrm>
        </p:spPr>
        <p:txBody>
          <a:bodyPr/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HTML antigo: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="500" era limitado. Vocês só conseguiam definir pixels ou porcentagens simples.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CSS moderno: O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ganhou "superpoderes". Você pode usar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(100% - 20px) o 20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margem de segurança,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(largura da tela),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(altura da janela) em, rem, (em e rem se baseiam no tamanho da fonte que está sendo usada no site, são uma máquina de xerox que ampliam ou reduzem). Exemplo: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1rem ou 1em = Copie no tamanho original (1x).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2rem ou 2em = Faça com o dobro do tamanho (2x).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0.5rem ou 0.5em = Faça com a metade do tamanho (0.5x).</a:t>
            </a: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 dirty="0"/>
          </a:p>
        </p:txBody>
      </p:sp>
      <p:pic>
        <p:nvPicPr>
          <p:cNvPr id="1027" name="Picture 3" descr="Meme-Base Batman Pensando">
            <a:extLst>
              <a:ext uri="{FF2B5EF4-FFF2-40B4-BE49-F238E27FC236}">
                <a16:creationId xmlns:a16="http://schemas.microsoft.com/office/drawing/2014/main" id="{95B505BC-F857-8953-0F92-E554EA1A3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03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905E6-4949-52A3-33AE-3A982AB1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5CDC1-18BE-78F9-0624-E664AEF5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11" y="392575"/>
            <a:ext cx="5924964" cy="766200"/>
          </a:xfrm>
        </p:spPr>
        <p:txBody>
          <a:bodyPr/>
          <a:lstStyle/>
          <a:p>
            <a:pPr algn="just"/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pt-B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aparecem dos dois lados, certo?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36F055-0271-4DF1-A41A-7FEBE8D5A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27027" y="1158775"/>
            <a:ext cx="9074079" cy="3984725"/>
          </a:xfrm>
        </p:spPr>
        <p:txBody>
          <a:bodyPr/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combinar com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max-width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min-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largura máxima. É livre para encolher em telas pequenas mas é proibido de ultrapassar esse limite máximo em telas grandes. Exemplo: 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max-width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800px;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por que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para não ficar com linhas extremamente extensas, compridas demais e difíceis de ler num monitor panorâmico.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</a:t>
            </a:r>
            <a:r>
              <a:rPr lang="pt-BR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largura mínima.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elemento pode esticar à vontade mas nunca poderá ficar mais estreito do que este limite. 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 por que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A gente evita que o conteúdo da caixa fique "esmagado" </a:t>
            </a:r>
            <a:b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ilegível quando o usuário vê o site através de um celular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pequneo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437A17-7487-7357-5B90-7EAD14A14F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 dirty="0"/>
          </a:p>
        </p:txBody>
      </p:sp>
      <p:pic>
        <p:nvPicPr>
          <p:cNvPr id="4" name="Picture 3" descr="Meme-Base Batman Pensando">
            <a:extLst>
              <a:ext uri="{FF2B5EF4-FFF2-40B4-BE49-F238E27FC236}">
                <a16:creationId xmlns:a16="http://schemas.microsoft.com/office/drawing/2014/main" id="{13936635-A187-34AD-8017-68660EDFC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51" y="0"/>
            <a:ext cx="1393581" cy="118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98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As mudanças de nome real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3392" y="1095470"/>
            <a:ext cx="8333117" cy="3984725"/>
          </a:xfrm>
        </p:spPr>
        <p:txBody>
          <a:bodyPr/>
          <a:lstStyle/>
          <a:p>
            <a:pPr algn="just"/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Alguns mudaram de nome para ficarem mais claros dentro do padrão CSS:</a:t>
            </a:r>
          </a:p>
          <a:p>
            <a:pPr algn="just"/>
            <a:endParaRPr lang="pt-BR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bgcolor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CSS, "color" sozinho sempre se refere ao texto. Por isso, para o fundo, adicionaram o prefixo background-.</a:t>
            </a:r>
          </a:p>
          <a:p>
            <a:pPr algn="just"/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Como o CSS separa o que é texto do que é bloco,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virou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text-align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(para alinhar letras) ou usamos outras técnicas (como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auto) para alinhar caixas.</a:t>
            </a:r>
          </a:p>
          <a:p>
            <a:pPr algn="just"/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cellpadding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No HTML antigo, isso só existia para tabelas. </a:t>
            </a:r>
          </a:p>
          <a:p>
            <a:pPr marL="10160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CSS, 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(espaçamento interno) pode ser aplicado em qualquer </a:t>
            </a:r>
          </a:p>
          <a:p>
            <a:pPr marL="10160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coisa: botões, parágrafos, imagens, entre outros.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 dirty="0"/>
          </a:p>
        </p:txBody>
      </p:sp>
      <p:pic>
        <p:nvPicPr>
          <p:cNvPr id="2050" name="Picture 2" descr="Pensativo.... - Meme by AlexFlores123 :) Memedroid">
            <a:extLst>
              <a:ext uri="{FF2B5EF4-FFF2-40B4-BE49-F238E27FC236}">
                <a16:creationId xmlns:a16="http://schemas.microsoft.com/office/drawing/2014/main" id="{1D850DD6-6D5C-63A3-70EE-BE9A8126F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558" y="-8844"/>
            <a:ext cx="1689442" cy="11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20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464EF-1CD3-4366-86A2-EF941002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6" y="392575"/>
            <a:ext cx="6435304" cy="766200"/>
          </a:xfrm>
        </p:spPr>
        <p:txBody>
          <a:bodyPr/>
          <a:lstStyle/>
          <a:p>
            <a:r>
              <a:rPr lang="pt-BR" sz="3200" dirty="0"/>
              <a:t>ANTIGAMENTE VERSUS REAL AGAIN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0124C2-2A42-4D06-BAB9-BE0D1F0A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00" y="1158775"/>
            <a:ext cx="8333117" cy="3984725"/>
          </a:xfrm>
        </p:spPr>
        <p:txBody>
          <a:bodyPr/>
          <a:lstStyle/>
          <a:p>
            <a:pPr algn="just"/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="1"&gt; ... &lt;/</a:t>
            </a:r>
            <a:r>
              <a:rPr lang="pt-B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antigo)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algn="just"/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Nome igual, mas agora definimos: Grossura, Estilo e Cor */ </a:t>
            </a:r>
          </a:p>
          <a:p>
            <a:pPr algn="just"/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2px 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blue;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algn="just"/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... &lt;/</a:t>
            </a:r>
            <a:r>
              <a:rPr lang="pt-BR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novo)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3153F5-3EBD-4946-9CFD-B25FB4420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 dirty="0"/>
          </a:p>
        </p:txBody>
      </p:sp>
      <p:pic>
        <p:nvPicPr>
          <p:cNvPr id="4" name="Picture 2" descr="Pensativo.... - Meme by AlexFlores123 :) Memedroid">
            <a:extLst>
              <a:ext uri="{FF2B5EF4-FFF2-40B4-BE49-F238E27FC236}">
                <a16:creationId xmlns:a16="http://schemas.microsoft.com/office/drawing/2014/main" id="{EA72A59C-27C3-133E-EB5E-D42649EF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558" y="-8844"/>
            <a:ext cx="1689442" cy="11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0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D91080-9F31-4DB7-BD49-99AFD70BA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28B0CB-6146-4428-8118-B6E8FE1CE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88" y="1730018"/>
            <a:ext cx="8824823" cy="168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9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42203" y="1344103"/>
            <a:ext cx="8786223" cy="374840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% (Porcentagem)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vocês tem uma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filha com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50%;, o navegador vai olhar para a &lt;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pai dela. Se o pai tiver 400 pixels de largura, a filha terá 200 pixels. Se o pai encolher, a filha encolhe junto. Muito difícil?</a:t>
            </a:r>
          </a:p>
          <a:p>
            <a:pPr algn="just"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funciona: a porcentagem não tem vontade própria. Ela é totalmente dependente.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principal: Criar colunas e layouts que se adaptam à largura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página.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 dirty="0"/>
          </a:p>
        </p:txBody>
      </p:sp>
      <p:pic>
        <p:nvPicPr>
          <p:cNvPr id="5122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B05EBE00-70A3-D8E6-0E6C-EB30F3C77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75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274723"/>
            <a:ext cx="8786223" cy="377172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Essas são as unidades da "janela" do navegador (o que o usuário vê). Elas ignoram o elemento pai e olham direto para o tamanho da tela.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vw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1vw equivale a 1% da largura total da tela.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1vh equivale a 1% da altura total da tela.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Exemplo: Se você quer que uma imagem de fundo cubra a tela inteira,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você usa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100vw; e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100vh;.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 dirty="0"/>
          </a:p>
        </p:txBody>
      </p:sp>
      <p:pic>
        <p:nvPicPr>
          <p:cNvPr id="3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140AB194-F683-3EA6-09E4-43A9C350C1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870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158775"/>
            <a:ext cx="8786223" cy="40334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em</a:t>
            </a:r>
          </a:p>
          <a:p>
            <a:pPr>
              <a:spcBef>
                <a:spcPts val="0"/>
              </a:spcBef>
            </a:pPr>
            <a:endParaRPr lang="pt-BR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 unidade é baseada no tamanho da fonte.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funciona: 1em é igual ao tamanho atual da fonte do elemento. Se a fonte padrão é 16px, então 1em = 16px. Se você definir algo como 2em, terá 32px.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Diferencial: Se o usuário aumentar o tamanho da letra no navegador (por acessibilidade), tudo o que estiver em 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vai crescer junto proporcionalmente.</a:t>
            </a:r>
          </a:p>
          <a:p>
            <a:pPr>
              <a:spcBef>
                <a:spcPts val="0"/>
              </a:spcBef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Uso principal: Espaçamentos internos (</a:t>
            </a:r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 margens 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textos.</a:t>
            </a:r>
          </a:p>
          <a:p>
            <a:pPr marL="10160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 dirty="0"/>
          </a:p>
        </p:txBody>
      </p:sp>
      <p:pic>
        <p:nvPicPr>
          <p:cNvPr id="3" name="Picture 2" descr="Pegatina con la obra «Kermit la rana meme pensativo» de Omeris | Redbubble">
            <a:extLst>
              <a:ext uri="{FF2B5EF4-FFF2-40B4-BE49-F238E27FC236}">
                <a16:creationId xmlns:a16="http://schemas.microsoft.com/office/drawing/2014/main" id="{616A25AE-BB32-3104-F71F-58B4415109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8" t="22529" r="19368" b="23282"/>
          <a:stretch>
            <a:fillRect/>
          </a:stretch>
        </p:blipFill>
        <p:spPr bwMode="auto">
          <a:xfrm>
            <a:off x="7987017" y="0"/>
            <a:ext cx="1118383" cy="135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09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29918-1973-4CBC-9231-B702FE1FD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392575"/>
            <a:ext cx="5940208" cy="766200"/>
          </a:xfrm>
        </p:spPr>
        <p:txBody>
          <a:bodyPr/>
          <a:lstStyle/>
          <a:p>
            <a:r>
              <a:rPr lang="pt-BR" sz="2800" dirty="0"/>
              <a:t>EXERCÍCIO: GAME-CARD DASHBOARD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0A3A43-E2D6-4393-B7CB-BC65432791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600" y="1274723"/>
            <a:ext cx="8786223" cy="3771729"/>
          </a:xfrm>
        </p:spPr>
        <p:txBody>
          <a:bodyPr/>
          <a:lstStyle/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Criem um cabeçalho que ocupa a tela toda, uma seção de conteúdo com imagens e uma estrutura que não "quebra" em diferentes telas. </a:t>
            </a:r>
          </a:p>
          <a:p>
            <a:pPr algn="just"/>
            <a:r>
              <a:rPr lang="pt-B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Podem trocar as imagens ok? tanto da de fundo, quanto as outras 2 nos cards.</a:t>
            </a:r>
            <a:endParaRPr lang="pt-BR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B350D-CCEB-477C-8F16-0A89393CA3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 dirty="0"/>
          </a:p>
        </p:txBody>
      </p:sp>
      <p:pic>
        <p:nvPicPr>
          <p:cNvPr id="10242" name="Picture 2" descr="Não Entendi Nada Não Entendo Nada GIF - Não Entendi Nada Não Entendo Nada  Não Tendi Nada - Discover &amp; Share GIFs">
            <a:extLst>
              <a:ext uri="{FF2B5EF4-FFF2-40B4-BE49-F238E27FC236}">
                <a16:creationId xmlns:a16="http://schemas.microsoft.com/office/drawing/2014/main" id="{E72632FB-DC67-4BCF-9568-6F77802AD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943" y="0"/>
            <a:ext cx="1978457" cy="108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651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51AE760-99BE-4B7C-AD33-29D0A57E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100"/>
            <a:ext cx="8863584" cy="46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6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39C5E1A-5231-4A91-805E-D7D05ADF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"/>
            <a:ext cx="914400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5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F408DF-2C10-453E-8D68-B953C7FB6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74"/>
            <a:ext cx="9144000" cy="496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5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F31E0C-B5FF-4EF8-A98D-E9A7F231B4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DBDC570-22F3-4E6E-A6C2-512B2651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50"/>
            <a:ext cx="9144000" cy="500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62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C7240-4CCB-4F3D-BAAC-9FC8736F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08" y="1374229"/>
            <a:ext cx="8289984" cy="1972820"/>
          </a:xfrm>
        </p:spPr>
        <p:txBody>
          <a:bodyPr/>
          <a:lstStyle/>
          <a:p>
            <a:r>
              <a:rPr lang="pt-BR" sz="7200" dirty="0">
                <a:solidFill>
                  <a:schemeClr val="tx1"/>
                </a:solidFill>
              </a:rPr>
              <a:t>QUAL O RESULTADO?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D14CFB-3106-4F04-AE1C-7B665854A9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 dirty="0"/>
          </a:p>
        </p:txBody>
      </p:sp>
      <p:pic>
        <p:nvPicPr>
          <p:cNvPr id="14340" name="Picture 4" descr="Imã de geladeira meme gato mr fresh">
            <a:extLst>
              <a:ext uri="{FF2B5EF4-FFF2-40B4-BE49-F238E27FC236}">
                <a16:creationId xmlns:a16="http://schemas.microsoft.com/office/drawing/2014/main" id="{20A91AD5-083B-45E4-8DD1-A1984085D2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2" t="19957" r="12264" b="18659"/>
          <a:stretch/>
        </p:blipFill>
        <p:spPr bwMode="auto">
          <a:xfrm>
            <a:off x="2717320" y="2837076"/>
            <a:ext cx="2829464" cy="23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576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6033F8-CA4D-43EE-9A07-3CBB765C0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634342-625C-4743-BA71-3E0AFF1E2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01" y="191400"/>
            <a:ext cx="9241602" cy="487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51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0B54C-EDCC-4C62-AC61-BD683BB2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AGORA NOSSOS SITES ESTÃO MAIS PROFISSONAIS NÉ?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92EF57-632C-4782-9745-7FB553A7FB7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pt-BR" dirty="0"/>
              <a:t>Ai vocês respondem: NÃO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01CAE7-0336-4B06-9632-C63F3FAD6D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 dirty="0"/>
          </a:p>
        </p:txBody>
      </p:sp>
      <p:pic>
        <p:nvPicPr>
          <p:cNvPr id="13314" name="Picture 2" descr="Meme de gato para o dia! : r/cats">
            <a:extLst>
              <a:ext uri="{FF2B5EF4-FFF2-40B4-BE49-F238E27FC236}">
                <a16:creationId xmlns:a16="http://schemas.microsoft.com/office/drawing/2014/main" id="{C1CD311B-674A-4377-B3D5-D4F921390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80" y="1537988"/>
            <a:ext cx="2847795" cy="284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Gato chorando – #MUSEUdeMEMES">
            <a:extLst>
              <a:ext uri="{FF2B5EF4-FFF2-40B4-BE49-F238E27FC236}">
                <a16:creationId xmlns:a16="http://schemas.microsoft.com/office/drawing/2014/main" id="{11153F20-225F-4152-93A3-5AE50173C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492" y="2051367"/>
            <a:ext cx="2847795" cy="256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890898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Personalizada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B2D1F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alizada 2">
      <a:majorFont>
        <a:latin typeface="Arial Rounded MT Bold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1489</TotalTime>
  <Words>1267</Words>
  <Application>Microsoft Office PowerPoint</Application>
  <PresentationFormat>Apresentação na tela (16:9)</PresentationFormat>
  <Paragraphs>129</Paragraphs>
  <Slides>23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Arvo</vt:lpstr>
      <vt:lpstr>Roboto Condensed Light</vt:lpstr>
      <vt:lpstr>Times New Roman</vt:lpstr>
      <vt:lpstr>Roboto Condensed</vt:lpstr>
      <vt:lpstr>Arial</vt:lpstr>
      <vt:lpstr>Salerio template</vt:lpstr>
      <vt:lpstr>ALTERAÇÕES COM HTML5</vt:lpstr>
      <vt:lpstr>ATRIBUTOS DESCONTINUADOS</vt:lpstr>
      <vt:lpstr>Apresentação do PowerPoint</vt:lpstr>
      <vt:lpstr>Ai vocês me olham com essa cara:</vt:lpstr>
      <vt:lpstr>EXPLICAÇÃO</vt:lpstr>
      <vt:lpstr>EXPLICANDO...</vt:lpstr>
      <vt:lpstr>ANTIGAMENTE VERSUS ATUALMENTE</vt:lpstr>
      <vt:lpstr>Width, height, border e clear aparecem dos dois lados, certo?</vt:lpstr>
      <vt:lpstr>Width, height, border e clear aparecem dos dois lados, certo?</vt:lpstr>
      <vt:lpstr>As mudanças de nome real</vt:lpstr>
      <vt:lpstr>ANTIGAMENTE VERSUS REAL AGAIN</vt:lpstr>
      <vt:lpstr>Apresentação do PowerPoint</vt:lpstr>
      <vt:lpstr>COMO FUNCIONA?</vt:lpstr>
      <vt:lpstr>COMO FUNCIONA?</vt:lpstr>
      <vt:lpstr>COMO FUNCIONA?</vt:lpstr>
      <vt:lpstr>EXERCÍCIO: GAME-CARD DASHBOARD</vt:lpstr>
      <vt:lpstr>Apresentação do PowerPoint</vt:lpstr>
      <vt:lpstr>Apresentação do PowerPoint</vt:lpstr>
      <vt:lpstr>Apresentação do PowerPoint</vt:lpstr>
      <vt:lpstr>Apresentação do PowerPoint</vt:lpstr>
      <vt:lpstr>QUAL O RESULTADO?</vt:lpstr>
      <vt:lpstr>Apresentação do PowerPoint</vt:lpstr>
      <vt:lpstr>AGORA NOSSOS SITES ESTÃO MAIS PROFISSONAIS NÉ?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DDW I Profa. Valéria H. P. Gerbelli</dc:title>
  <dc:creator>valeria gerbelli</dc:creator>
  <cp:lastModifiedBy>Célide Tasso</cp:lastModifiedBy>
  <cp:revision>63</cp:revision>
  <dcterms:modified xsi:type="dcterms:W3CDTF">2026-03-16T00:32:52Z</dcterms:modified>
</cp:coreProperties>
</file>